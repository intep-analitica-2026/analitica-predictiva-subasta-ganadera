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roxima Nov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Wszl1ZW0yMcHRSCOCEw2h3LV8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roximaNova-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roximaNova-italic.fntdata"/><Relationship Id="rId6" Type="http://schemas.openxmlformats.org/officeDocument/2006/relationships/slide" Target="slides/slide2.xml"/><Relationship Id="rId18" Type="http://schemas.openxmlformats.org/officeDocument/2006/relationships/font" Target="fonts/ProximaNova-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3" name="Google Shape;4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2" name="Google Shape;6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7" name="Google Shape;7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8" name="Google Shape;9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 name="Google Shape;11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2" name="Google Shape;13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7" name="Google Shape;16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3" name="Google Shape;18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1" name="Google Shape;20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5" name="Google Shape;21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C4A"/>
        </a:solidFill>
      </p:bgPr>
    </p:bg>
    <p:spTree>
      <p:nvGrpSpPr>
        <p:cNvPr id="11" name="Shape 11"/>
        <p:cNvGrpSpPr/>
        <p:nvPr/>
      </p:nvGrpSpPr>
      <p:grpSpPr>
        <a:xfrm>
          <a:off x="0" y="0"/>
          <a:ext cx="0" cy="0"/>
          <a:chOff x="0" y="0"/>
          <a:chExt cx="0" cy="0"/>
        </a:xfrm>
      </p:grpSpPr>
      <p:sp>
        <p:nvSpPr>
          <p:cNvPr id="12" name="Google Shape;12;p1"/>
          <p:cNvSpPr/>
          <p:nvPr/>
        </p:nvSpPr>
        <p:spPr>
          <a:xfrm>
            <a:off x="0" y="0"/>
            <a:ext cx="914400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0" y="5029200"/>
            <a:ext cx="9144000" cy="114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0" y="-214122"/>
            <a:ext cx="9144000" cy="50337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2765368" y="347308"/>
            <a:ext cx="397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Analítica Predictiva</a:t>
            </a:r>
            <a:endParaRPr b="0" i="0" sz="3200" u="none" cap="none" strike="noStrike">
              <a:solidFill>
                <a:schemeClr val="dk1"/>
              </a:solidFill>
              <a:latin typeface="Calibri"/>
              <a:ea typeface="Calibri"/>
              <a:cs typeface="Calibri"/>
              <a:sym typeface="Calibri"/>
            </a:endParaRPr>
          </a:p>
        </p:txBody>
      </p:sp>
      <p:sp>
        <p:nvSpPr>
          <p:cNvPr id="16" name="Google Shape;16;p1"/>
          <p:cNvSpPr/>
          <p:nvPr/>
        </p:nvSpPr>
        <p:spPr>
          <a:xfrm>
            <a:off x="2926656" y="1270681"/>
            <a:ext cx="3540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2200"/>
              <a:buFont typeface="Calibri"/>
              <a:buNone/>
            </a:pPr>
            <a:r>
              <a:rPr b="0" i="0" lang="en-US" sz="2200" u="none" cap="none" strike="noStrike">
                <a:solidFill>
                  <a:srgbClr val="CADCFC"/>
                </a:solidFill>
                <a:latin typeface="Calibri"/>
                <a:ea typeface="Calibri"/>
                <a:cs typeface="Calibri"/>
                <a:sym typeface="Calibri"/>
              </a:rPr>
              <a:t>Subasta Ganadera Suganorte</a:t>
            </a:r>
            <a:endParaRPr b="0" i="0" sz="2200" u="none" cap="none" strike="noStrike">
              <a:solidFill>
                <a:schemeClr val="dk1"/>
              </a:solidFill>
              <a:latin typeface="Calibri"/>
              <a:ea typeface="Calibri"/>
              <a:cs typeface="Calibri"/>
              <a:sym typeface="Calibri"/>
            </a:endParaRPr>
          </a:p>
        </p:txBody>
      </p:sp>
      <p:sp>
        <p:nvSpPr>
          <p:cNvPr id="17" name="Google Shape;17;p1"/>
          <p:cNvSpPr/>
          <p:nvPr/>
        </p:nvSpPr>
        <p:spPr>
          <a:xfrm>
            <a:off x="3429000" y="1773476"/>
            <a:ext cx="2286000" cy="504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727523" y="1823871"/>
            <a:ext cx="22380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t/>
            </a:r>
            <a:endParaRPr b="0" i="0" u="none" cap="none" strike="noStrike">
              <a:solidFill>
                <a:schemeClr val="dk1"/>
              </a:solidFill>
              <a:latin typeface="Calibri"/>
              <a:ea typeface="Calibri"/>
              <a:cs typeface="Calibri"/>
              <a:sym typeface="Calibri"/>
            </a:endParaRPr>
          </a:p>
        </p:txBody>
      </p:sp>
      <p:grpSp>
        <p:nvGrpSpPr>
          <p:cNvPr id="19" name="Google Shape;19;p1"/>
          <p:cNvGrpSpPr/>
          <p:nvPr/>
        </p:nvGrpSpPr>
        <p:grpSpPr>
          <a:xfrm>
            <a:off x="5982636" y="2684579"/>
            <a:ext cx="2604322" cy="616242"/>
            <a:chOff x="5277924" y="2745486"/>
            <a:chExt cx="1468796" cy="347472"/>
          </a:xfrm>
        </p:grpSpPr>
        <p:sp>
          <p:nvSpPr>
            <p:cNvPr id="20" name="Google Shape;20;p1"/>
            <p:cNvSpPr/>
            <p:nvPr/>
          </p:nvSpPr>
          <p:spPr>
            <a:xfrm>
              <a:off x="5277924" y="2745486"/>
              <a:ext cx="1463040" cy="347472"/>
            </a:xfrm>
            <a:prstGeom prst="rect">
              <a:avLst/>
            </a:prstGeom>
            <a:solidFill>
              <a:srgbClr val="2563A8"/>
            </a:solidFill>
            <a:ln cap="flat" cmpd="sng" w="22475">
              <a:solidFill>
                <a:srgbClr val="2563A8"/>
              </a:solidFill>
              <a:prstDash val="solid"/>
              <a:round/>
              <a:headEnd len="sm" w="sm" type="none"/>
              <a:tailEnd len="sm" w="sm" type="none"/>
            </a:ln>
          </p:spPr>
          <p:txBody>
            <a:bodyPr anchorCtr="0" anchor="ctr" bIns="162100" lIns="162100" spcFirstLastPara="1" rIns="162100" wrap="square" tIns="162100">
              <a:noAutofit/>
            </a:bodyPr>
            <a:lstStyle/>
            <a:p>
              <a:pPr indent="0" lvl="0" marL="0" rtl="0" algn="l">
                <a:spcBef>
                  <a:spcPts val="0"/>
                </a:spcBef>
                <a:spcAft>
                  <a:spcPts val="0"/>
                </a:spcAft>
                <a:buNone/>
              </a:pPr>
              <a:r>
                <a:t/>
              </a:r>
              <a:endParaRPr/>
            </a:p>
          </p:txBody>
        </p:sp>
        <p:sp>
          <p:nvSpPr>
            <p:cNvPr id="21" name="Google Shape;21;p1"/>
            <p:cNvSpPr/>
            <p:nvPr/>
          </p:nvSpPr>
          <p:spPr>
            <a:xfrm>
              <a:off x="5283620" y="2745486"/>
              <a:ext cx="14631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7"/>
                <a:buFont typeface="Calibri"/>
                <a:buNone/>
              </a:pPr>
              <a:r>
                <a:rPr b="0" i="0" lang="en-US" sz="1788" u="none" cap="none" strike="noStrike">
                  <a:solidFill>
                    <a:srgbClr val="FFFFFF"/>
                  </a:solidFill>
                  <a:latin typeface="Calibri"/>
                  <a:ea typeface="Calibri"/>
                  <a:cs typeface="Calibri"/>
                  <a:sym typeface="Calibri"/>
                </a:rPr>
                <a:t>Milton Vanegas Delgado</a:t>
              </a:r>
              <a:endParaRPr b="0" i="0" sz="1788" u="none" cap="none" strike="noStrike">
                <a:solidFill>
                  <a:schemeClr val="dk1"/>
                </a:solidFill>
                <a:latin typeface="Calibri"/>
                <a:ea typeface="Calibri"/>
                <a:cs typeface="Calibri"/>
                <a:sym typeface="Calibri"/>
              </a:endParaRPr>
            </a:p>
          </p:txBody>
        </p:sp>
      </p:grpSp>
      <p:grpSp>
        <p:nvGrpSpPr>
          <p:cNvPr id="22" name="Google Shape;22;p1"/>
          <p:cNvGrpSpPr/>
          <p:nvPr/>
        </p:nvGrpSpPr>
        <p:grpSpPr>
          <a:xfrm>
            <a:off x="465365" y="2689908"/>
            <a:ext cx="2596910" cy="616207"/>
            <a:chOff x="448200" y="2571750"/>
            <a:chExt cx="1464286" cy="347472"/>
          </a:xfrm>
        </p:grpSpPr>
        <p:sp>
          <p:nvSpPr>
            <p:cNvPr id="23" name="Google Shape;23;p1"/>
            <p:cNvSpPr/>
            <p:nvPr/>
          </p:nvSpPr>
          <p:spPr>
            <a:xfrm>
              <a:off x="448200" y="2571750"/>
              <a:ext cx="1463040" cy="347472"/>
            </a:xfrm>
            <a:prstGeom prst="rect">
              <a:avLst/>
            </a:prstGeom>
            <a:solidFill>
              <a:srgbClr val="0F766E"/>
            </a:solidFill>
            <a:ln cap="flat" cmpd="sng" w="22525">
              <a:solidFill>
                <a:srgbClr val="0F766E"/>
              </a:solidFill>
              <a:prstDash val="solid"/>
              <a:round/>
              <a:headEnd len="sm" w="sm" type="none"/>
              <a:tailEnd len="sm" w="sm" type="none"/>
            </a:ln>
          </p:spPr>
          <p:txBody>
            <a:bodyPr anchorCtr="0" anchor="ctr" bIns="162150" lIns="162150" spcFirstLastPara="1" rIns="162150" wrap="square" tIns="162150">
              <a:noAutofit/>
            </a:bodyPr>
            <a:lstStyle/>
            <a:p>
              <a:pPr indent="0" lvl="0" marL="0" rtl="0" algn="l">
                <a:spcBef>
                  <a:spcPts val="0"/>
                </a:spcBef>
                <a:spcAft>
                  <a:spcPts val="0"/>
                </a:spcAft>
                <a:buNone/>
              </a:pPr>
              <a:r>
                <a:t/>
              </a:r>
              <a:endParaRPr/>
            </a:p>
          </p:txBody>
        </p:sp>
        <p:sp>
          <p:nvSpPr>
            <p:cNvPr id="24" name="Google Shape;24;p1"/>
            <p:cNvSpPr/>
            <p:nvPr/>
          </p:nvSpPr>
          <p:spPr>
            <a:xfrm>
              <a:off x="449386" y="2571750"/>
              <a:ext cx="14631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7"/>
                <a:buFont typeface="Calibri"/>
                <a:buNone/>
              </a:pPr>
              <a:r>
                <a:rPr b="0" i="0" lang="en-US" sz="1507" u="none" cap="none" strike="noStrike">
                  <a:solidFill>
                    <a:srgbClr val="FFFFFF"/>
                  </a:solidFill>
                  <a:latin typeface="Calibri"/>
                  <a:ea typeface="Calibri"/>
                  <a:cs typeface="Calibri"/>
                  <a:sym typeface="Calibri"/>
                </a:rPr>
                <a:t>Carlos Arturo Agudelo</a:t>
              </a:r>
              <a:endParaRPr b="0" i="0" sz="1507" u="none" cap="none" strike="noStrike">
                <a:solidFill>
                  <a:schemeClr val="dk1"/>
                </a:solidFill>
                <a:latin typeface="Calibri"/>
                <a:ea typeface="Calibri"/>
                <a:cs typeface="Calibri"/>
                <a:sym typeface="Calibri"/>
              </a:endParaRPr>
            </a:p>
          </p:txBody>
        </p:sp>
      </p:grpSp>
      <p:sp>
        <p:nvSpPr>
          <p:cNvPr id="25" name="Google Shape;25;p1"/>
          <p:cNvSpPr/>
          <p:nvPr/>
        </p:nvSpPr>
        <p:spPr>
          <a:xfrm>
            <a:off x="3541325" y="2684601"/>
            <a:ext cx="1953300" cy="616200"/>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3552050" y="2661338"/>
            <a:ext cx="1912800" cy="61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1500" u="none" cap="none" strike="noStrike">
                <a:solidFill>
                  <a:srgbClr val="FFFFFF"/>
                </a:solidFill>
                <a:latin typeface="Calibri"/>
                <a:ea typeface="Calibri"/>
                <a:cs typeface="Calibri"/>
                <a:sym typeface="Calibri"/>
              </a:rPr>
              <a:t>Jeferson Balcazar</a:t>
            </a:r>
            <a:endParaRPr sz="1500">
              <a:solidFill>
                <a:srgbClr val="FFFFFF"/>
              </a:solidFill>
              <a:latin typeface="Calibri"/>
              <a:ea typeface="Calibri"/>
              <a:cs typeface="Calibri"/>
              <a:sym typeface="Calibri"/>
            </a:endParaRPr>
          </a:p>
          <a:p>
            <a:pPr indent="0" lvl="0" marL="0" marR="0" rtl="0" algn="ctr">
              <a:spcBef>
                <a:spcPts val="0"/>
              </a:spcBef>
              <a:spcAft>
                <a:spcPts val="0"/>
              </a:spcAft>
              <a:buClr>
                <a:srgbClr val="FFFFFF"/>
              </a:buClr>
              <a:buSzPts val="850"/>
              <a:buFont typeface="Calibri"/>
              <a:buNone/>
            </a:pPr>
            <a:r>
              <a:rPr b="0" i="0" lang="en-US" sz="1500" u="none" cap="none" strike="noStrike">
                <a:solidFill>
                  <a:srgbClr val="FFFFFF"/>
                </a:solidFill>
                <a:latin typeface="Calibri"/>
                <a:ea typeface="Calibri"/>
                <a:cs typeface="Calibri"/>
                <a:sym typeface="Calibri"/>
              </a:rPr>
              <a:t>Gómez</a:t>
            </a:r>
            <a:endParaRPr b="0" i="0" sz="1500" u="none" cap="none" strike="noStrike">
              <a:solidFill>
                <a:schemeClr val="dk1"/>
              </a:solidFill>
              <a:latin typeface="Calibri"/>
              <a:ea typeface="Calibri"/>
              <a:cs typeface="Calibri"/>
              <a:sym typeface="Calibri"/>
            </a:endParaRPr>
          </a:p>
        </p:txBody>
      </p:sp>
      <p:sp>
        <p:nvSpPr>
          <p:cNvPr id="27" name="Google Shape;27;p1"/>
          <p:cNvSpPr/>
          <p:nvPr/>
        </p:nvSpPr>
        <p:spPr>
          <a:xfrm>
            <a:off x="1574800" y="4313500"/>
            <a:ext cx="6187800" cy="43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000"/>
              <a:buFont typeface="Calibri"/>
              <a:buNone/>
            </a:pPr>
            <a:r>
              <a:rPr b="0" i="0" lang="en-US" sz="2400" u="none" cap="none" strike="noStrike">
                <a:solidFill>
                  <a:srgbClr val="94A3B8"/>
                </a:solidFill>
                <a:latin typeface="Calibri"/>
                <a:ea typeface="Calibri"/>
                <a:cs typeface="Calibri"/>
                <a:sym typeface="Calibri"/>
              </a:rPr>
              <a:t>INTEP Roldanillo  ·  Analítica Predictiva 2026</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p:nvPr/>
        </p:nvSpPr>
        <p:spPr>
          <a:xfrm>
            <a:off x="-1" y="183000"/>
            <a:ext cx="9389400" cy="5381400"/>
          </a:xfrm>
          <a:prstGeom prst="rect">
            <a:avLst/>
          </a:prstGeom>
          <a:solidFill>
            <a:srgbClr val="0D1435"/>
          </a:solidFill>
          <a:ln cap="flat" cmpd="sng" w="12700">
            <a:solidFill>
              <a:srgbClr val="0D14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2"/>
          <p:cNvSpPr/>
          <p:nvPr/>
        </p:nvSpPr>
        <p:spPr>
          <a:xfrm>
            <a:off x="1860368" y="54693"/>
            <a:ext cx="5423263"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3400">
                <a:solidFill>
                  <a:srgbClr val="F59E0B"/>
                </a:solidFill>
                <a:latin typeface="Calibri"/>
                <a:ea typeface="Calibri"/>
                <a:cs typeface="Calibri"/>
                <a:sym typeface="Calibri"/>
              </a:rPr>
              <a:t>Problema de Negocio</a:t>
            </a:r>
            <a:endParaRPr sz="3400">
              <a:solidFill>
                <a:schemeClr val="dk1"/>
              </a:solidFill>
              <a:latin typeface="Calibri"/>
              <a:ea typeface="Calibri"/>
              <a:cs typeface="Calibri"/>
              <a:sym typeface="Calibri"/>
            </a:endParaRPr>
          </a:p>
        </p:txBody>
      </p:sp>
      <p:sp>
        <p:nvSpPr>
          <p:cNvPr id="34" name="Google Shape;34;p2"/>
          <p:cNvSpPr/>
          <p:nvPr/>
        </p:nvSpPr>
        <p:spPr>
          <a:xfrm>
            <a:off x="210025" y="1370125"/>
            <a:ext cx="4387800" cy="281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600">
              <a:solidFill>
                <a:schemeClr val="lt1"/>
              </a:solidFill>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Optimizar el trabajo en pista, conocer márgenes de pujas entre los diferentes rangos de pesos-precios.</a:t>
            </a:r>
            <a:endParaRPr sz="20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4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Segmentar compradores.</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4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Dejar de mirar por el retrovisor y anticiparse a grandes y bajos volúmenes de ganado en temporadas</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a:p>
        </p:txBody>
      </p:sp>
      <p:sp>
        <p:nvSpPr>
          <p:cNvPr id="35" name="Google Shape;35;p2"/>
          <p:cNvSpPr/>
          <p:nvPr/>
        </p:nvSpPr>
        <p:spPr>
          <a:xfrm>
            <a:off x="4885851" y="1196150"/>
            <a:ext cx="4097100" cy="281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Eficiencia operativa (tiempo)</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700">
              <a:solidFill>
                <a:schemeClr val="lt1"/>
              </a:solidFill>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Campañas de Marketing inteligentes</a:t>
            </a:r>
            <a:endParaRPr sz="2000">
              <a:solidFill>
                <a:schemeClr val="lt1"/>
              </a:solidFill>
              <a:latin typeface="Calibri"/>
              <a:ea typeface="Calibri"/>
              <a:cs typeface="Calibri"/>
              <a:sym typeface="Calibri"/>
            </a:endParaRPr>
          </a:p>
          <a:p>
            <a:pPr indent="0" lvl="0" marL="457200" marR="0" rtl="0" algn="l">
              <a:spcBef>
                <a:spcPts val="0"/>
              </a:spcBef>
              <a:spcAft>
                <a:spcPts val="0"/>
              </a:spcAft>
              <a:buNone/>
            </a:pPr>
            <a:r>
              <a:t/>
            </a:r>
            <a:endParaRPr sz="100">
              <a:latin typeface="Calibri"/>
              <a:ea typeface="Calibri"/>
              <a:cs typeface="Calibri"/>
              <a:sym typeface="Calibri"/>
            </a:endParaRPr>
          </a:p>
          <a:p>
            <a:pPr indent="-355600" lvl="0" marL="457200" marR="0" rtl="0" algn="l">
              <a:spcBef>
                <a:spcPts val="0"/>
              </a:spcBef>
              <a:spcAft>
                <a:spcPts val="0"/>
              </a:spcAft>
              <a:buClr>
                <a:schemeClr val="lt1"/>
              </a:buClr>
              <a:buSzPts val="2000"/>
              <a:buFont typeface="Calibri"/>
              <a:buChar char="●"/>
            </a:pPr>
            <a:r>
              <a:rPr lang="en-US" sz="2000">
                <a:solidFill>
                  <a:schemeClr val="lt1"/>
                </a:solidFill>
                <a:latin typeface="Calibri"/>
                <a:ea typeface="Calibri"/>
                <a:cs typeface="Calibri"/>
                <a:sym typeface="Calibri"/>
              </a:rPr>
              <a:t>Retención de proveedores al tener bases menores a su expectativa, se le da explicación con datos, no opiniones ni percepciones.</a:t>
            </a:r>
            <a:endParaRPr sz="2000">
              <a:latin typeface="Calibri"/>
              <a:ea typeface="Calibri"/>
              <a:cs typeface="Calibri"/>
              <a:sym typeface="Calibri"/>
            </a:endParaRPr>
          </a:p>
        </p:txBody>
      </p:sp>
      <p:sp>
        <p:nvSpPr>
          <p:cNvPr id="36" name="Google Shape;36;p2"/>
          <p:cNvSpPr/>
          <p:nvPr/>
        </p:nvSpPr>
        <p:spPr>
          <a:xfrm>
            <a:off x="274319" y="5226252"/>
            <a:ext cx="85953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
        <p:nvSpPr>
          <p:cNvPr id="37" name="Google Shape;37;p2"/>
          <p:cNvSpPr/>
          <p:nvPr/>
        </p:nvSpPr>
        <p:spPr>
          <a:xfrm>
            <a:off x="0" y="0"/>
            <a:ext cx="9326100" cy="1830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47385" y="652030"/>
            <a:ext cx="54234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2000">
                <a:solidFill>
                  <a:srgbClr val="F59E0B"/>
                </a:solidFill>
                <a:latin typeface="Calibri"/>
                <a:ea typeface="Calibri"/>
                <a:cs typeface="Calibri"/>
                <a:sym typeface="Calibri"/>
              </a:rPr>
              <a:t>¿Qué necesita saber la Subasta?</a:t>
            </a:r>
            <a:endParaRPr sz="2000">
              <a:solidFill>
                <a:schemeClr val="dk1"/>
              </a:solidFill>
              <a:latin typeface="Calibri"/>
              <a:ea typeface="Calibri"/>
              <a:cs typeface="Calibri"/>
              <a:sym typeface="Calibri"/>
            </a:endParaRPr>
          </a:p>
        </p:txBody>
      </p:sp>
      <p:sp>
        <p:nvSpPr>
          <p:cNvPr id="39" name="Google Shape;39;p2"/>
          <p:cNvSpPr/>
          <p:nvPr/>
        </p:nvSpPr>
        <p:spPr>
          <a:xfrm>
            <a:off x="3559538" y="652030"/>
            <a:ext cx="54234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3200"/>
              <a:buFont typeface="Calibri"/>
              <a:buNone/>
            </a:pPr>
            <a:r>
              <a:rPr b="1" lang="en-US" sz="2000">
                <a:solidFill>
                  <a:srgbClr val="F59E0B"/>
                </a:solidFill>
                <a:latin typeface="Calibri"/>
                <a:ea typeface="Calibri"/>
                <a:cs typeface="Calibri"/>
                <a:sym typeface="Calibri"/>
              </a:rPr>
              <a:t>¿Por Qué es importante?</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44" name="Shape 44"/>
        <p:cNvGrpSpPr/>
        <p:nvPr/>
      </p:nvGrpSpPr>
      <p:grpSpPr>
        <a:xfrm>
          <a:off x="0" y="0"/>
          <a:ext cx="0" cy="0"/>
          <a:chOff x="0" y="0"/>
          <a:chExt cx="0" cy="0"/>
        </a:xfrm>
      </p:grpSpPr>
      <p:sp>
        <p:nvSpPr>
          <p:cNvPr id="45" name="Google Shape;45;p3"/>
          <p:cNvSpPr/>
          <p:nvPr/>
        </p:nvSpPr>
        <p:spPr>
          <a:xfrm>
            <a:off x="0" y="0"/>
            <a:ext cx="9144000" cy="542693"/>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365760" y="0"/>
            <a:ext cx="8229600" cy="54269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Los Datos</a:t>
            </a:r>
            <a:endParaRPr sz="3200">
              <a:solidFill>
                <a:schemeClr val="dk1"/>
              </a:solidFill>
              <a:latin typeface="Calibri"/>
              <a:ea typeface="Calibri"/>
              <a:cs typeface="Calibri"/>
              <a:sym typeface="Calibri"/>
            </a:endParaRPr>
          </a:p>
        </p:txBody>
      </p:sp>
      <p:grpSp>
        <p:nvGrpSpPr>
          <p:cNvPr id="47" name="Google Shape;47;p3"/>
          <p:cNvGrpSpPr/>
          <p:nvPr/>
        </p:nvGrpSpPr>
        <p:grpSpPr>
          <a:xfrm>
            <a:off x="173736" y="562711"/>
            <a:ext cx="8421624" cy="640200"/>
            <a:chOff x="356616" y="905212"/>
            <a:chExt cx="8421624" cy="640200"/>
          </a:xfrm>
        </p:grpSpPr>
        <p:sp>
          <p:nvSpPr>
            <p:cNvPr id="48" name="Google Shape;48;p3"/>
            <p:cNvSpPr/>
            <p:nvPr/>
          </p:nvSpPr>
          <p:spPr>
            <a:xfrm>
              <a:off x="365760" y="960120"/>
              <a:ext cx="8412480" cy="542693"/>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356616" y="905212"/>
              <a:ext cx="8412600" cy="640200"/>
            </a:xfrm>
            <a:prstGeom prst="rect">
              <a:avLst/>
            </a:prstGeom>
            <a:noFill/>
            <a:ln>
              <a:noFill/>
            </a:ln>
          </p:spPr>
          <p:txBody>
            <a:bodyPr anchorCtr="0" anchor="ctr" bIns="45700" lIns="91425" spcFirstLastPara="1" rIns="91425" wrap="square" tIns="45700">
              <a:noAutofit/>
            </a:bodyPr>
            <a:lstStyle/>
            <a:p>
              <a:pPr indent="0" lvl="0" marL="457200" marR="0" rtl="0" algn="ctr">
                <a:spcBef>
                  <a:spcPts val="0"/>
                </a:spcBef>
                <a:spcAft>
                  <a:spcPts val="0"/>
                </a:spcAft>
                <a:buNone/>
              </a:pPr>
              <a:r>
                <a:rPr lang="en-US" sz="2000">
                  <a:solidFill>
                    <a:schemeClr val="lt1"/>
                  </a:solidFill>
                  <a:latin typeface="Proxima Nova"/>
                  <a:ea typeface="Proxima Nova"/>
                  <a:cs typeface="Proxima Nova"/>
                  <a:sym typeface="Proxima Nova"/>
                </a:rPr>
                <a:t>Después de limpieza y validación, trabajamos con 11.253 registros, con estas variables principales</a:t>
              </a:r>
              <a:endParaRPr sz="2000"/>
            </a:p>
          </p:txBody>
        </p:sp>
      </p:grpSp>
      <p:sp>
        <p:nvSpPr>
          <p:cNvPr id="50" name="Google Shape;50;p3"/>
          <p:cNvSpPr/>
          <p:nvPr/>
        </p:nvSpPr>
        <p:spPr>
          <a:xfrm>
            <a:off x="274325" y="1332625"/>
            <a:ext cx="2743200" cy="36369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292600" y="1348537"/>
            <a:ext cx="63900" cy="15087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3806275" y="1339600"/>
            <a:ext cx="5246400" cy="35982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3825311" y="1375993"/>
            <a:ext cx="63900" cy="15087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253505" y="4969541"/>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55" name="Google Shape;55;p3"/>
          <p:cNvPicPr preferRelativeResize="0"/>
          <p:nvPr/>
        </p:nvPicPr>
        <p:blipFill rotWithShape="1">
          <a:blip r:embed="rId3">
            <a:alphaModFix/>
          </a:blip>
          <a:srcRect b="0" l="0" r="0" t="0"/>
          <a:stretch/>
        </p:blipFill>
        <p:spPr>
          <a:xfrm>
            <a:off x="365761" y="1444948"/>
            <a:ext cx="2247342" cy="3492812"/>
          </a:xfrm>
          <a:prstGeom prst="rect">
            <a:avLst/>
          </a:prstGeom>
          <a:noFill/>
          <a:ln>
            <a:noFill/>
          </a:ln>
        </p:spPr>
      </p:pic>
      <p:pic>
        <p:nvPicPr>
          <p:cNvPr id="56" name="Google Shape;56;p3"/>
          <p:cNvPicPr preferRelativeResize="0"/>
          <p:nvPr/>
        </p:nvPicPr>
        <p:blipFill rotWithShape="1">
          <a:blip r:embed="rId4">
            <a:alphaModFix/>
          </a:blip>
          <a:srcRect b="0" l="0" r="0" t="0"/>
          <a:stretch/>
        </p:blipFill>
        <p:spPr>
          <a:xfrm>
            <a:off x="3982059" y="1390577"/>
            <a:ext cx="4921188" cy="2741483"/>
          </a:xfrm>
          <a:prstGeom prst="rect">
            <a:avLst/>
          </a:prstGeom>
          <a:noFill/>
          <a:ln>
            <a:noFill/>
          </a:ln>
        </p:spPr>
      </p:pic>
      <p:sp>
        <p:nvSpPr>
          <p:cNvPr id="57" name="Google Shape;57;p3"/>
          <p:cNvSpPr txBox="1"/>
          <p:nvPr/>
        </p:nvSpPr>
        <p:spPr>
          <a:xfrm>
            <a:off x="3467150" y="4226530"/>
            <a:ext cx="5436000" cy="670500"/>
          </a:xfrm>
          <a:prstGeom prst="rect">
            <a:avLst/>
          </a:prstGeom>
          <a:noFill/>
          <a:ln>
            <a:noFill/>
          </a:ln>
        </p:spPr>
        <p:txBody>
          <a:bodyPr anchorCtr="0" anchor="t" bIns="91425" lIns="91425" spcFirstLastPara="1" rIns="91425" wrap="square" tIns="91425">
            <a:noAutofit/>
          </a:bodyPr>
          <a:lstStyle/>
          <a:p>
            <a:pPr indent="0" lvl="0" marL="457200" marR="0" rtl="0" algn="l">
              <a:spcBef>
                <a:spcPts val="0"/>
              </a:spcBef>
              <a:spcAft>
                <a:spcPts val="0"/>
              </a:spcAft>
              <a:buClr>
                <a:srgbClr val="2F5496"/>
              </a:buClr>
              <a:buSzPts val="1600"/>
              <a:buFont typeface="Proxima Nova"/>
              <a:buNone/>
            </a:pPr>
            <a:r>
              <a:rPr lang="en-US" sz="2000">
                <a:solidFill>
                  <a:srgbClr val="2F5496"/>
                </a:solidFill>
                <a:latin typeface="Proxima Nova"/>
                <a:ea typeface="Proxima Nova"/>
                <a:cs typeface="Proxima Nova"/>
                <a:sym typeface="Proxima Nova"/>
              </a:rPr>
              <a:t>40 datasets, c/u con 350 registros aprox. datos desde junio 2025 hasta marzo 2026</a:t>
            </a:r>
            <a:endParaRPr sz="2000">
              <a:solidFill>
                <a:srgbClr val="2F5496"/>
              </a:solidFill>
              <a:latin typeface="Proxima Nova"/>
              <a:ea typeface="Proxima Nova"/>
              <a:cs typeface="Proxima Nova"/>
              <a:sym typeface="Proxima Nova"/>
            </a:endParaRPr>
          </a:p>
        </p:txBody>
      </p:sp>
      <p:sp>
        <p:nvSpPr>
          <p:cNvPr id="58" name="Google Shape;58;p3"/>
          <p:cNvSpPr/>
          <p:nvPr/>
        </p:nvSpPr>
        <p:spPr>
          <a:xfrm>
            <a:off x="2644975" y="4374725"/>
            <a:ext cx="1327200" cy="348000"/>
          </a:xfrm>
          <a:prstGeom prst="leftArrow">
            <a:avLst>
              <a:gd fmla="val 50000" name="adj1"/>
              <a:gd fmla="val 50000" name="adj2"/>
            </a:avLst>
          </a:prstGeom>
          <a:solidFill>
            <a:srgbClr val="2563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63" name="Shape 63"/>
        <p:cNvGrpSpPr/>
        <p:nvPr/>
      </p:nvGrpSpPr>
      <p:grpSpPr>
        <a:xfrm>
          <a:off x="0" y="0"/>
          <a:ext cx="0" cy="0"/>
          <a:chOff x="0" y="0"/>
          <a:chExt cx="0" cy="0"/>
        </a:xfrm>
      </p:grpSpPr>
      <p:sp>
        <p:nvSpPr>
          <p:cNvPr id="64" name="Google Shape;64;p4"/>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365760" y="0"/>
            <a:ext cx="64008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EDA e Insights</a:t>
            </a:r>
            <a:endParaRPr sz="2400">
              <a:solidFill>
                <a:schemeClr val="dk1"/>
              </a:solidFill>
              <a:latin typeface="Calibri"/>
              <a:ea typeface="Calibri"/>
              <a:cs typeface="Calibri"/>
              <a:sym typeface="Calibri"/>
            </a:endParaRPr>
          </a:p>
        </p:txBody>
      </p:sp>
      <p:sp>
        <p:nvSpPr>
          <p:cNvPr id="66" name="Google Shape;66;p4"/>
          <p:cNvSpPr/>
          <p:nvPr/>
        </p:nvSpPr>
        <p:spPr>
          <a:xfrm>
            <a:off x="365760" y="0"/>
            <a:ext cx="8503920" cy="7772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67" name="Google Shape;67;p4"/>
          <p:cNvSpPr/>
          <p:nvPr/>
        </p:nvSpPr>
        <p:spPr>
          <a:xfrm>
            <a:off x="176150" y="842497"/>
            <a:ext cx="4295400" cy="9018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11751" y="681348"/>
            <a:ext cx="4295400" cy="113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roxima Nova"/>
                <a:ea typeface="Proxima Nova"/>
                <a:cs typeface="Proxima Nova"/>
                <a:sym typeface="Proxima Nova"/>
              </a:rPr>
              <a:t>Categorías de Levante con los precios x Kg </a:t>
            </a:r>
            <a:r>
              <a:rPr lang="en-US" sz="1800">
                <a:solidFill>
                  <a:schemeClr val="lt1"/>
                </a:solidFill>
                <a:latin typeface="Proxima Nova"/>
                <a:ea typeface="Proxima Nova"/>
                <a:cs typeface="Proxima Nova"/>
                <a:sym typeface="Proxima Nova"/>
              </a:rPr>
              <a:t>más</a:t>
            </a:r>
            <a:r>
              <a:rPr lang="en-US" sz="1800">
                <a:solidFill>
                  <a:schemeClr val="lt1"/>
                </a:solidFill>
                <a:latin typeface="Proxima Nova"/>
                <a:ea typeface="Proxima Nova"/>
                <a:cs typeface="Proxima Nova"/>
                <a:sym typeface="Proxima Nova"/>
              </a:rPr>
              <a:t> altos, entre más sube el peso, más baja su precio x Kg</a:t>
            </a:r>
            <a:endParaRPr sz="1800"/>
          </a:p>
        </p:txBody>
      </p:sp>
      <p:sp>
        <p:nvSpPr>
          <p:cNvPr id="69" name="Google Shape;69;p4"/>
          <p:cNvSpPr/>
          <p:nvPr/>
        </p:nvSpPr>
        <p:spPr>
          <a:xfrm>
            <a:off x="4645450" y="836523"/>
            <a:ext cx="4382400" cy="9018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754913" y="840788"/>
            <a:ext cx="4023300" cy="817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roxima Nova"/>
                <a:ea typeface="Proxima Nova"/>
                <a:cs typeface="Proxima Nova"/>
                <a:sym typeface="Proxima Nova"/>
              </a:rPr>
              <a:t>Precios con distribución normal, el centro contiene la mayoría de ventas</a:t>
            </a:r>
            <a:endParaRPr sz="1800"/>
          </a:p>
        </p:txBody>
      </p:sp>
      <p:pic>
        <p:nvPicPr>
          <p:cNvPr descr="/home/claude/content_unpacked/ppt/media/image1.png" id="71" name="Google Shape;71;p4"/>
          <p:cNvPicPr preferRelativeResize="0"/>
          <p:nvPr/>
        </p:nvPicPr>
        <p:blipFill rotWithShape="1">
          <a:blip r:embed="rId3">
            <a:alphaModFix/>
          </a:blip>
          <a:srcRect b="0" l="0" r="0" t="0"/>
          <a:stretch/>
        </p:blipFill>
        <p:spPr>
          <a:xfrm>
            <a:off x="188013" y="1868837"/>
            <a:ext cx="4201112" cy="3055337"/>
          </a:xfrm>
          <a:prstGeom prst="rect">
            <a:avLst/>
          </a:prstGeom>
          <a:noFill/>
          <a:ln>
            <a:noFill/>
          </a:ln>
        </p:spPr>
      </p:pic>
      <p:pic>
        <p:nvPicPr>
          <p:cNvPr descr="/home/claude/content_unpacked/ppt/media/image4.png" id="72" name="Google Shape;72;p4"/>
          <p:cNvPicPr preferRelativeResize="0"/>
          <p:nvPr/>
        </p:nvPicPr>
        <p:blipFill rotWithShape="1">
          <a:blip r:embed="rId4">
            <a:alphaModFix/>
          </a:blip>
          <a:srcRect b="0" l="0" r="0" t="0"/>
          <a:stretch/>
        </p:blipFill>
        <p:spPr>
          <a:xfrm>
            <a:off x="4754875" y="1868846"/>
            <a:ext cx="4201100" cy="3055329"/>
          </a:xfrm>
          <a:prstGeom prst="rect">
            <a:avLst/>
          </a:prstGeom>
          <a:noFill/>
          <a:ln>
            <a:noFill/>
          </a:ln>
        </p:spPr>
      </p:pic>
      <p:sp>
        <p:nvSpPr>
          <p:cNvPr id="73" name="Google Shape;73;p4"/>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78" name="Shape 78"/>
        <p:cNvGrpSpPr/>
        <p:nvPr/>
      </p:nvGrpSpPr>
      <p:grpSpPr>
        <a:xfrm>
          <a:off x="0" y="0"/>
          <a:ext cx="0" cy="0"/>
          <a:chOff x="0" y="0"/>
          <a:chExt cx="0" cy="0"/>
        </a:xfrm>
      </p:grpSpPr>
      <p:sp>
        <p:nvSpPr>
          <p:cNvPr id="79" name="Google Shape;79;p5"/>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365750" y="0"/>
            <a:ext cx="35661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Modelo 1: Regresión Lineal</a:t>
            </a:r>
            <a:endParaRPr sz="2400">
              <a:solidFill>
                <a:schemeClr val="dk1"/>
              </a:solidFill>
              <a:latin typeface="Calibri"/>
              <a:ea typeface="Calibri"/>
              <a:cs typeface="Calibri"/>
              <a:sym typeface="Calibri"/>
            </a:endParaRPr>
          </a:p>
        </p:txBody>
      </p:sp>
      <p:sp>
        <p:nvSpPr>
          <p:cNvPr id="81" name="Google Shape;81;p5"/>
          <p:cNvSpPr/>
          <p:nvPr/>
        </p:nvSpPr>
        <p:spPr>
          <a:xfrm>
            <a:off x="3497550" y="85625"/>
            <a:ext cx="5528100" cy="60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i="1" lang="en-US" sz="2000">
                <a:solidFill>
                  <a:schemeClr val="lt1"/>
                </a:solidFill>
                <a:latin typeface="Calibri"/>
                <a:ea typeface="Calibri"/>
                <a:cs typeface="Calibri"/>
                <a:sym typeface="Calibri"/>
              </a:rPr>
              <a:t>Predecir el precio por kilo a partir de las variables del lote</a:t>
            </a:r>
            <a:endParaRPr sz="2000">
              <a:solidFill>
                <a:schemeClr val="lt1"/>
              </a:solidFill>
              <a:latin typeface="Calibri"/>
              <a:ea typeface="Calibri"/>
              <a:cs typeface="Calibri"/>
              <a:sym typeface="Calibri"/>
            </a:endParaRPr>
          </a:p>
        </p:txBody>
      </p:sp>
      <p:sp>
        <p:nvSpPr>
          <p:cNvPr id="82" name="Google Shape;82;p5"/>
          <p:cNvSpPr/>
          <p:nvPr/>
        </p:nvSpPr>
        <p:spPr>
          <a:xfrm>
            <a:off x="133825" y="852550"/>
            <a:ext cx="4479000" cy="29271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142740" y="1036481"/>
            <a:ext cx="63900" cy="27432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344012" y="821946"/>
            <a:ext cx="356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900">
                <a:solidFill>
                  <a:srgbClr val="1E2761"/>
                </a:solidFill>
                <a:latin typeface="Calibri"/>
                <a:ea typeface="Calibri"/>
                <a:cs typeface="Calibri"/>
                <a:sym typeface="Calibri"/>
              </a:rPr>
              <a:t>Regresión Simple</a:t>
            </a:r>
            <a:endParaRPr sz="1900">
              <a:solidFill>
                <a:schemeClr val="dk1"/>
              </a:solidFill>
              <a:latin typeface="Calibri"/>
              <a:ea typeface="Calibri"/>
              <a:cs typeface="Calibri"/>
              <a:sym typeface="Calibri"/>
            </a:endParaRPr>
          </a:p>
        </p:txBody>
      </p:sp>
      <p:sp>
        <p:nvSpPr>
          <p:cNvPr id="85" name="Google Shape;85;p5"/>
          <p:cNvSpPr/>
          <p:nvPr/>
        </p:nvSpPr>
        <p:spPr>
          <a:xfrm>
            <a:off x="4767750" y="852550"/>
            <a:ext cx="4305000" cy="29271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p:nvPr/>
        </p:nvSpPr>
        <p:spPr>
          <a:xfrm>
            <a:off x="4778610" y="992984"/>
            <a:ext cx="63900" cy="27432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4939737" y="759802"/>
            <a:ext cx="3840600" cy="40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2000">
                <a:solidFill>
                  <a:srgbClr val="1E2761"/>
                </a:solidFill>
                <a:latin typeface="Calibri"/>
                <a:ea typeface="Calibri"/>
                <a:cs typeface="Calibri"/>
                <a:sym typeface="Calibri"/>
              </a:rPr>
              <a:t>Regresión Múltiple</a:t>
            </a:r>
            <a:endParaRPr sz="2000">
              <a:solidFill>
                <a:schemeClr val="dk1"/>
              </a:solidFill>
              <a:latin typeface="Calibri"/>
              <a:ea typeface="Calibri"/>
              <a:cs typeface="Calibri"/>
              <a:sym typeface="Calibri"/>
            </a:endParaRPr>
          </a:p>
        </p:txBody>
      </p:sp>
      <p:sp>
        <p:nvSpPr>
          <p:cNvPr id="88" name="Google Shape;88;p5"/>
          <p:cNvSpPr/>
          <p:nvPr/>
        </p:nvSpPr>
        <p:spPr>
          <a:xfrm>
            <a:off x="4928850" y="1122908"/>
            <a:ext cx="3840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600"/>
              <a:buFont typeface="Calibri"/>
              <a:buNone/>
            </a:pPr>
            <a:r>
              <a:rPr b="1" lang="en-US" sz="1500">
                <a:solidFill>
                  <a:srgbClr val="B45309"/>
                </a:solidFill>
                <a:latin typeface="Calibri"/>
                <a:ea typeface="Calibri"/>
                <a:cs typeface="Calibri"/>
                <a:sym typeface="Calibri"/>
              </a:rPr>
              <a:t>Al agregar a la regresión valores como hora de llegada, procedencia, sexo. Pasamos de un 18% a un 30% y el MAE su margen baja de $1.276 a $1.163 pesos por Kg</a:t>
            </a:r>
            <a:endParaRPr sz="1500">
              <a:solidFill>
                <a:schemeClr val="dk1"/>
              </a:solidFill>
              <a:latin typeface="Calibri"/>
              <a:ea typeface="Calibri"/>
              <a:cs typeface="Calibri"/>
              <a:sym typeface="Calibri"/>
            </a:endParaRPr>
          </a:p>
        </p:txBody>
      </p:sp>
      <p:sp>
        <p:nvSpPr>
          <p:cNvPr id="89" name="Google Shape;89;p5"/>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90" name="Google Shape;90;p5"/>
          <p:cNvPicPr preferRelativeResize="0"/>
          <p:nvPr/>
        </p:nvPicPr>
        <p:blipFill rotWithShape="1">
          <a:blip r:embed="rId3">
            <a:alphaModFix/>
          </a:blip>
          <a:srcRect b="0" l="0" r="0" t="0"/>
          <a:stretch/>
        </p:blipFill>
        <p:spPr>
          <a:xfrm>
            <a:off x="717091" y="1245004"/>
            <a:ext cx="3502964" cy="2416172"/>
          </a:xfrm>
          <a:prstGeom prst="rect">
            <a:avLst/>
          </a:prstGeom>
          <a:noFill/>
          <a:ln>
            <a:noFill/>
          </a:ln>
        </p:spPr>
      </p:pic>
      <p:pic>
        <p:nvPicPr>
          <p:cNvPr id="91" name="Google Shape;91;p5"/>
          <p:cNvPicPr preferRelativeResize="0"/>
          <p:nvPr/>
        </p:nvPicPr>
        <p:blipFill rotWithShape="1">
          <a:blip r:embed="rId4">
            <a:alphaModFix/>
          </a:blip>
          <a:srcRect b="0" l="0" r="0" t="0"/>
          <a:stretch/>
        </p:blipFill>
        <p:spPr>
          <a:xfrm>
            <a:off x="4919161" y="1970739"/>
            <a:ext cx="3859970" cy="992975"/>
          </a:xfrm>
          <a:prstGeom prst="rect">
            <a:avLst/>
          </a:prstGeom>
          <a:noFill/>
          <a:ln>
            <a:noFill/>
          </a:ln>
        </p:spPr>
      </p:pic>
      <p:sp>
        <p:nvSpPr>
          <p:cNvPr id="92" name="Google Shape;92;p5"/>
          <p:cNvSpPr/>
          <p:nvPr/>
        </p:nvSpPr>
        <p:spPr>
          <a:xfrm>
            <a:off x="142750" y="3822238"/>
            <a:ext cx="8930100" cy="11154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5"/>
          <p:cNvSpPr/>
          <p:nvPr/>
        </p:nvSpPr>
        <p:spPr>
          <a:xfrm>
            <a:off x="206650" y="3723103"/>
            <a:ext cx="8819100" cy="13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002060"/>
                </a:solidFill>
                <a:latin typeface="Proxima Nova"/>
                <a:ea typeface="Proxima Nova"/>
                <a:cs typeface="Proxima Nova"/>
                <a:sym typeface="Proxima Nova"/>
              </a:rPr>
              <a:t>El</a:t>
            </a:r>
            <a:r>
              <a:rPr b="1" lang="en-US" sz="1800">
                <a:solidFill>
                  <a:srgbClr val="002060"/>
                </a:solidFill>
                <a:latin typeface="Proxima Nova"/>
                <a:ea typeface="Proxima Nova"/>
                <a:cs typeface="Proxima Nova"/>
                <a:sym typeface="Proxima Nova"/>
              </a:rPr>
              <a:t> principal objetivo es explicar el comportamiento del precio por Kg, el modelo de regresión lineal es el que mejor se nos adapta, no buscamos un valor 0 o 1 , tenemos claro un objetivo, variable Y con diferentes y evidentes variables independientes (Peso, Procedencia, Categoría, etc).</a:t>
            </a:r>
            <a:endParaRPr sz="1800"/>
          </a:p>
        </p:txBody>
      </p:sp>
      <p:pic>
        <p:nvPicPr>
          <p:cNvPr id="94" name="Google Shape;94;p5"/>
          <p:cNvPicPr preferRelativeResize="0"/>
          <p:nvPr/>
        </p:nvPicPr>
        <p:blipFill>
          <a:blip r:embed="rId5">
            <a:alphaModFix/>
          </a:blip>
          <a:stretch>
            <a:fillRect/>
          </a:stretch>
        </p:blipFill>
        <p:spPr>
          <a:xfrm>
            <a:off x="4924750" y="3051749"/>
            <a:ext cx="3847182" cy="60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99" name="Shape 99"/>
        <p:cNvGrpSpPr/>
        <p:nvPr/>
      </p:nvGrpSpPr>
      <p:grpSpPr>
        <a:xfrm>
          <a:off x="0" y="0"/>
          <a:ext cx="0" cy="0"/>
          <a:chOff x="0" y="0"/>
          <a:chExt cx="0" cy="0"/>
        </a:xfrm>
      </p:grpSpPr>
      <p:sp>
        <p:nvSpPr>
          <p:cNvPr id="100" name="Google Shape;100;p6"/>
          <p:cNvSpPr/>
          <p:nvPr/>
        </p:nvSpPr>
        <p:spPr>
          <a:xfrm>
            <a:off x="0" y="0"/>
            <a:ext cx="164592"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278766" y="-31433"/>
            <a:ext cx="5029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Modelo 2: Series Temporales</a:t>
            </a:r>
            <a:endParaRPr sz="2600">
              <a:solidFill>
                <a:schemeClr val="dk1"/>
              </a:solidFill>
              <a:latin typeface="Calibri"/>
              <a:ea typeface="Calibri"/>
              <a:cs typeface="Calibri"/>
              <a:sym typeface="Calibri"/>
            </a:endParaRPr>
          </a:p>
        </p:txBody>
      </p:sp>
      <p:sp>
        <p:nvSpPr>
          <p:cNvPr id="102" name="Google Shape;102;p6"/>
          <p:cNvSpPr/>
          <p:nvPr/>
        </p:nvSpPr>
        <p:spPr>
          <a:xfrm>
            <a:off x="4410963" y="-42319"/>
            <a:ext cx="5029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2200"/>
              <a:buFont typeface="Calibri"/>
              <a:buNone/>
            </a:pPr>
            <a:r>
              <a:rPr b="1" lang="en-US" sz="2600">
                <a:solidFill>
                  <a:srgbClr val="F59E0B"/>
                </a:solidFill>
                <a:latin typeface="Calibri"/>
                <a:ea typeface="Calibri"/>
                <a:cs typeface="Calibri"/>
                <a:sym typeface="Calibri"/>
              </a:rPr>
              <a:t>Series Temporales: Holt-Winters</a:t>
            </a:r>
            <a:endParaRPr sz="2600">
              <a:solidFill>
                <a:schemeClr val="dk1"/>
              </a:solidFill>
              <a:latin typeface="Calibri"/>
              <a:ea typeface="Calibri"/>
              <a:cs typeface="Calibri"/>
              <a:sym typeface="Calibri"/>
            </a:endParaRPr>
          </a:p>
        </p:txBody>
      </p:sp>
      <p:sp>
        <p:nvSpPr>
          <p:cNvPr id="103" name="Google Shape;103;p6"/>
          <p:cNvSpPr/>
          <p:nvPr/>
        </p:nvSpPr>
        <p:spPr>
          <a:xfrm>
            <a:off x="274324" y="319634"/>
            <a:ext cx="26700" cy="6966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 name="Google Shape;104;p6"/>
          <p:cNvGrpSpPr/>
          <p:nvPr/>
        </p:nvGrpSpPr>
        <p:grpSpPr>
          <a:xfrm>
            <a:off x="300975" y="278828"/>
            <a:ext cx="8714612" cy="718072"/>
            <a:chOff x="365772" y="1057723"/>
            <a:chExt cx="8412600" cy="343806"/>
          </a:xfrm>
        </p:grpSpPr>
        <p:sp>
          <p:nvSpPr>
            <p:cNvPr id="105" name="Google Shape;105;p6"/>
            <p:cNvSpPr/>
            <p:nvPr/>
          </p:nvSpPr>
          <p:spPr>
            <a:xfrm>
              <a:off x="365772" y="1109029"/>
              <a:ext cx="8412600" cy="2925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418531" y="1057723"/>
              <a:ext cx="384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lang="en-US" sz="2000">
                  <a:solidFill>
                    <a:srgbClr val="1E2761"/>
                  </a:solidFill>
                  <a:latin typeface="Calibri"/>
                  <a:ea typeface="Calibri"/>
                  <a:cs typeface="Calibri"/>
                  <a:sym typeface="Calibri"/>
                </a:rPr>
                <a:t>¿Por qué Holt-Winters y no ARIMA?</a:t>
              </a:r>
              <a:endParaRPr sz="2000">
                <a:solidFill>
                  <a:schemeClr val="dk1"/>
                </a:solidFill>
                <a:latin typeface="Calibri"/>
                <a:ea typeface="Calibri"/>
                <a:cs typeface="Calibri"/>
                <a:sym typeface="Calibri"/>
              </a:endParaRPr>
            </a:p>
          </p:txBody>
        </p:sp>
        <p:sp>
          <p:nvSpPr>
            <p:cNvPr id="107" name="Google Shape;107;p6"/>
            <p:cNvSpPr/>
            <p:nvPr/>
          </p:nvSpPr>
          <p:spPr>
            <a:xfrm>
              <a:off x="4186314" y="1168514"/>
              <a:ext cx="4591800" cy="21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475569"/>
                  </a:solidFill>
                  <a:latin typeface="Calibri"/>
                  <a:ea typeface="Calibri"/>
                  <a:cs typeface="Calibri"/>
                  <a:sym typeface="Calibri"/>
                </a:rPr>
                <a:t>Más ágil y funciona con históricos cortos. No contamos con suficientes datos para ARIMA.</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p:txBody>
        </p:sp>
      </p:grpSp>
      <p:sp>
        <p:nvSpPr>
          <p:cNvPr id="108" name="Google Shape;108;p6"/>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109" name="Google Shape;109;p6"/>
          <p:cNvPicPr preferRelativeResize="0"/>
          <p:nvPr/>
        </p:nvPicPr>
        <p:blipFill rotWithShape="1">
          <a:blip r:embed="rId3">
            <a:alphaModFix/>
          </a:blip>
          <a:srcRect b="0" l="0" r="0" t="0"/>
          <a:stretch/>
        </p:blipFill>
        <p:spPr>
          <a:xfrm>
            <a:off x="976802" y="1080938"/>
            <a:ext cx="7263656" cy="3201644"/>
          </a:xfrm>
          <a:prstGeom prst="rect">
            <a:avLst/>
          </a:prstGeom>
          <a:noFill/>
          <a:ln>
            <a:noFill/>
          </a:ln>
        </p:spPr>
      </p:pic>
      <p:pic>
        <p:nvPicPr>
          <p:cNvPr id="110" name="Google Shape;110;p6"/>
          <p:cNvPicPr preferRelativeResize="0"/>
          <p:nvPr/>
        </p:nvPicPr>
        <p:blipFill>
          <a:blip r:embed="rId4">
            <a:alphaModFix/>
          </a:blip>
          <a:stretch>
            <a:fillRect/>
          </a:stretch>
        </p:blipFill>
        <p:spPr>
          <a:xfrm>
            <a:off x="1455936" y="4342817"/>
            <a:ext cx="1613849" cy="743450"/>
          </a:xfrm>
          <a:prstGeom prst="rect">
            <a:avLst/>
          </a:prstGeom>
          <a:noFill/>
          <a:ln>
            <a:noFill/>
          </a:ln>
        </p:spPr>
      </p:pic>
      <p:pic>
        <p:nvPicPr>
          <p:cNvPr id="111" name="Google Shape;111;p6"/>
          <p:cNvPicPr preferRelativeResize="0"/>
          <p:nvPr/>
        </p:nvPicPr>
        <p:blipFill>
          <a:blip r:embed="rId5">
            <a:alphaModFix/>
          </a:blip>
          <a:stretch>
            <a:fillRect/>
          </a:stretch>
        </p:blipFill>
        <p:spPr>
          <a:xfrm>
            <a:off x="3932502" y="4342812"/>
            <a:ext cx="1333349" cy="743450"/>
          </a:xfrm>
          <a:prstGeom prst="rect">
            <a:avLst/>
          </a:prstGeom>
          <a:noFill/>
          <a:ln>
            <a:noFill/>
          </a:ln>
        </p:spPr>
      </p:pic>
      <p:pic>
        <p:nvPicPr>
          <p:cNvPr id="112" name="Google Shape;112;p6"/>
          <p:cNvPicPr preferRelativeResize="0"/>
          <p:nvPr/>
        </p:nvPicPr>
        <p:blipFill>
          <a:blip r:embed="rId6">
            <a:alphaModFix/>
          </a:blip>
          <a:stretch>
            <a:fillRect/>
          </a:stretch>
        </p:blipFill>
        <p:spPr>
          <a:xfrm>
            <a:off x="6088844" y="4319000"/>
            <a:ext cx="1676075" cy="796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17" name="Shape 117"/>
        <p:cNvGrpSpPr/>
        <p:nvPr/>
      </p:nvGrpSpPr>
      <p:grpSpPr>
        <a:xfrm>
          <a:off x="0" y="0"/>
          <a:ext cx="0" cy="0"/>
          <a:chOff x="0" y="0"/>
          <a:chExt cx="0" cy="0"/>
        </a:xfrm>
      </p:grpSpPr>
      <p:sp>
        <p:nvSpPr>
          <p:cNvPr id="118" name="Google Shape;118;p7"/>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300">
                <a:solidFill>
                  <a:srgbClr val="FFFFFF"/>
                </a:solidFill>
                <a:latin typeface="Calibri"/>
                <a:ea typeface="Calibri"/>
                <a:cs typeface="Calibri"/>
                <a:sym typeface="Calibri"/>
              </a:rPr>
              <a:t>Árbol de Decisión:</a:t>
            </a:r>
            <a:endParaRPr sz="2300"/>
          </a:p>
          <a:p>
            <a:pPr indent="0" lvl="0" marL="0" marR="0" rtl="0" algn="l">
              <a:spcBef>
                <a:spcPts val="0"/>
              </a:spcBef>
              <a:spcAft>
                <a:spcPts val="0"/>
              </a:spcAft>
              <a:buNone/>
            </a:pPr>
            <a:r>
              <a:rPr b="1" lang="en-US" sz="2300">
                <a:solidFill>
                  <a:schemeClr val="lt1"/>
                </a:solidFill>
                <a:latin typeface="Calibri"/>
                <a:ea typeface="Calibri"/>
                <a:cs typeface="Calibri"/>
                <a:sym typeface="Calibri"/>
              </a:rPr>
              <a:t>Clasificación</a:t>
            </a:r>
            <a:endParaRPr sz="2300">
              <a:solidFill>
                <a:schemeClr val="lt1"/>
              </a:solidFill>
              <a:latin typeface="Calibri"/>
              <a:ea typeface="Calibri"/>
              <a:cs typeface="Calibri"/>
              <a:sym typeface="Calibri"/>
            </a:endParaRPr>
          </a:p>
        </p:txBody>
      </p:sp>
      <p:sp>
        <p:nvSpPr>
          <p:cNvPr id="120" name="Google Shape;120;p7"/>
          <p:cNvSpPr/>
          <p:nvPr/>
        </p:nvSpPr>
        <p:spPr>
          <a:xfrm>
            <a:off x="365760" y="822960"/>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75569"/>
              </a:buClr>
              <a:buSzPts val="1200"/>
              <a:buFont typeface="Calibri"/>
              <a:buNone/>
            </a:pPr>
            <a:r>
              <a:rPr i="1" lang="en-US" sz="1900">
                <a:solidFill>
                  <a:srgbClr val="475569"/>
                </a:solidFill>
                <a:latin typeface="Calibri"/>
                <a:ea typeface="Calibri"/>
                <a:cs typeface="Calibri"/>
                <a:sym typeface="Calibri"/>
              </a:rPr>
              <a:t>¿Generará pujas este lote? Las reglas que el modelo aprendió</a:t>
            </a:r>
            <a:endParaRPr sz="1900">
              <a:solidFill>
                <a:schemeClr val="dk1"/>
              </a:solidFill>
              <a:latin typeface="Calibri"/>
              <a:ea typeface="Calibri"/>
              <a:cs typeface="Calibri"/>
              <a:sym typeface="Calibri"/>
            </a:endParaRPr>
          </a:p>
        </p:txBody>
      </p:sp>
      <p:pic>
        <p:nvPicPr>
          <p:cNvPr descr="/home/claude/content_unpacked/ppt/media/image8.png" id="121" name="Google Shape;121;p7"/>
          <p:cNvPicPr preferRelativeResize="0"/>
          <p:nvPr/>
        </p:nvPicPr>
        <p:blipFill rotWithShape="1">
          <a:blip r:embed="rId3">
            <a:alphaModFix/>
          </a:blip>
          <a:srcRect b="0" l="0" r="0" t="0"/>
          <a:stretch/>
        </p:blipFill>
        <p:spPr>
          <a:xfrm>
            <a:off x="46643" y="1161288"/>
            <a:ext cx="6052898" cy="3177541"/>
          </a:xfrm>
          <a:prstGeom prst="rect">
            <a:avLst/>
          </a:prstGeom>
          <a:noFill/>
          <a:ln>
            <a:noFill/>
          </a:ln>
        </p:spPr>
      </p:pic>
      <p:sp>
        <p:nvSpPr>
          <p:cNvPr id="122" name="Google Shape;122;p7"/>
          <p:cNvSpPr/>
          <p:nvPr/>
        </p:nvSpPr>
        <p:spPr>
          <a:xfrm>
            <a:off x="6289300" y="1143000"/>
            <a:ext cx="2749500" cy="37947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6214047" y="1143000"/>
            <a:ext cx="77700" cy="37557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361856" y="1115575"/>
            <a:ext cx="25464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2000">
                <a:solidFill>
                  <a:srgbClr val="1E2761"/>
                </a:solidFill>
                <a:latin typeface="Calibri"/>
                <a:ea typeface="Calibri"/>
                <a:cs typeface="Calibri"/>
                <a:sym typeface="Calibri"/>
              </a:rPr>
              <a:t>Probabilidades muy altas de puja:</a:t>
            </a:r>
            <a:endParaRPr sz="2000">
              <a:solidFill>
                <a:schemeClr val="dk1"/>
              </a:solidFill>
              <a:latin typeface="Calibri"/>
              <a:ea typeface="Calibri"/>
              <a:cs typeface="Calibri"/>
              <a:sym typeface="Calibri"/>
            </a:endParaRPr>
          </a:p>
        </p:txBody>
      </p:sp>
      <p:sp>
        <p:nvSpPr>
          <p:cNvPr id="125" name="Google Shape;125;p7"/>
          <p:cNvSpPr/>
          <p:nvPr/>
        </p:nvSpPr>
        <p:spPr>
          <a:xfrm>
            <a:off x="6370396" y="1637811"/>
            <a:ext cx="2749500" cy="144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chemeClr val="accent1"/>
                </a:solidFill>
                <a:latin typeface="Calibri"/>
                <a:ea typeface="Calibri"/>
                <a:cs typeface="Calibri"/>
                <a:sym typeface="Calibri"/>
              </a:rPr>
              <a:t>Lotes =&lt; 180 Kgs, (Destete), lotes 2 o más animales, base igual o menor de $8.275</a:t>
            </a:r>
            <a:r>
              <a:rPr lang="en-US" sz="2000">
                <a:solidFill>
                  <a:srgbClr val="1E276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126" name="Google Shape;126;p7"/>
          <p:cNvSpPr/>
          <p:nvPr/>
        </p:nvSpPr>
        <p:spPr>
          <a:xfrm>
            <a:off x="6377050" y="3009470"/>
            <a:ext cx="23403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600"/>
              <a:buFont typeface="Calibri"/>
              <a:buNone/>
            </a:pPr>
            <a:r>
              <a:rPr b="1" lang="en-US" sz="2000">
                <a:solidFill>
                  <a:srgbClr val="0F766E"/>
                </a:solidFill>
                <a:latin typeface="Calibri"/>
                <a:ea typeface="Calibri"/>
                <a:cs typeface="Calibri"/>
                <a:sym typeface="Calibri"/>
              </a:rPr>
              <a:t>Probabilidades bajas de puja:</a:t>
            </a:r>
            <a:endParaRPr sz="2000">
              <a:solidFill>
                <a:schemeClr val="dk1"/>
              </a:solidFill>
              <a:latin typeface="Calibri"/>
              <a:ea typeface="Calibri"/>
              <a:cs typeface="Calibri"/>
              <a:sym typeface="Calibri"/>
            </a:endParaRPr>
          </a:p>
        </p:txBody>
      </p:sp>
      <p:sp>
        <p:nvSpPr>
          <p:cNvPr id="127" name="Google Shape;127;p7"/>
          <p:cNvSpPr/>
          <p:nvPr/>
        </p:nvSpPr>
        <p:spPr>
          <a:xfrm>
            <a:off x="6387827" y="3737575"/>
            <a:ext cx="2403300" cy="70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C55A11"/>
                </a:solidFill>
                <a:latin typeface="Calibri"/>
                <a:ea typeface="Calibri"/>
                <a:cs typeface="Calibri"/>
                <a:sym typeface="Calibri"/>
              </a:rPr>
              <a:t>Lotes </a:t>
            </a:r>
            <a:r>
              <a:rPr lang="en-US" sz="2000">
                <a:solidFill>
                  <a:srgbClr val="C55A11"/>
                </a:solidFill>
                <a:latin typeface="Calibri"/>
                <a:ea typeface="Calibri"/>
                <a:cs typeface="Calibri"/>
                <a:sym typeface="Calibri"/>
              </a:rPr>
              <a:t>Peso &gt; 374 Kgs y base $8.275</a:t>
            </a:r>
            <a:endParaRPr sz="2000">
              <a:solidFill>
                <a:srgbClr val="C55A11"/>
              </a:solidFill>
              <a:latin typeface="Calibri"/>
              <a:ea typeface="Calibri"/>
              <a:cs typeface="Calibri"/>
              <a:sym typeface="Calibri"/>
            </a:endParaRPr>
          </a:p>
        </p:txBody>
      </p:sp>
      <p:sp>
        <p:nvSpPr>
          <p:cNvPr id="128" name="Google Shape;128;p7"/>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33" name="Shape 133"/>
        <p:cNvGrpSpPr/>
        <p:nvPr/>
      </p:nvGrpSpPr>
      <p:grpSpPr>
        <a:xfrm>
          <a:off x="0" y="0"/>
          <a:ext cx="0" cy="0"/>
          <a:chOff x="0" y="0"/>
          <a:chExt cx="0" cy="0"/>
        </a:xfrm>
      </p:grpSpPr>
      <p:sp>
        <p:nvSpPr>
          <p:cNvPr id="134" name="Google Shape;134;p8"/>
          <p:cNvSpPr/>
          <p:nvPr/>
        </p:nvSpPr>
        <p:spPr>
          <a:xfrm>
            <a:off x="0" y="0"/>
            <a:ext cx="9144000" cy="5481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30158" y="-155448"/>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Clustering: K-Means</a:t>
            </a:r>
            <a:endParaRPr sz="2400">
              <a:solidFill>
                <a:schemeClr val="dk1"/>
              </a:solidFill>
              <a:latin typeface="Calibri"/>
              <a:ea typeface="Calibri"/>
              <a:cs typeface="Calibri"/>
              <a:sym typeface="Calibri"/>
            </a:endParaRPr>
          </a:p>
        </p:txBody>
      </p:sp>
      <p:sp>
        <p:nvSpPr>
          <p:cNvPr id="136" name="Google Shape;136;p8"/>
          <p:cNvSpPr/>
          <p:nvPr/>
        </p:nvSpPr>
        <p:spPr>
          <a:xfrm>
            <a:off x="2743442" y="-53100"/>
            <a:ext cx="6621300" cy="601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1200"/>
              <a:buFont typeface="Calibri"/>
              <a:buNone/>
            </a:pPr>
            <a:r>
              <a:rPr i="1" lang="en-US" sz="2000">
                <a:solidFill>
                  <a:schemeClr val="lt1"/>
                </a:solidFill>
                <a:latin typeface="Calibri"/>
                <a:ea typeface="Calibri"/>
                <a:cs typeface="Calibri"/>
                <a:sym typeface="Calibri"/>
              </a:rPr>
              <a:t>Tres perfiles de compradores con comportamientos distintos · K=4 · Silhouette Score K=2</a:t>
            </a:r>
            <a:endParaRPr sz="2000">
              <a:solidFill>
                <a:schemeClr val="lt1"/>
              </a:solidFill>
              <a:latin typeface="Calibri"/>
              <a:ea typeface="Calibri"/>
              <a:cs typeface="Calibri"/>
              <a:sym typeface="Calibri"/>
            </a:endParaRPr>
          </a:p>
        </p:txBody>
      </p:sp>
      <p:grpSp>
        <p:nvGrpSpPr>
          <p:cNvPr id="137" name="Google Shape;137;p8"/>
          <p:cNvGrpSpPr/>
          <p:nvPr/>
        </p:nvGrpSpPr>
        <p:grpSpPr>
          <a:xfrm>
            <a:off x="6611499" y="929469"/>
            <a:ext cx="2060864" cy="1688304"/>
            <a:chOff x="4632807" y="566116"/>
            <a:chExt cx="2060864" cy="1688304"/>
          </a:xfrm>
        </p:grpSpPr>
        <p:sp>
          <p:nvSpPr>
            <p:cNvPr id="138" name="Google Shape;138;p8"/>
            <p:cNvSpPr/>
            <p:nvPr/>
          </p:nvSpPr>
          <p:spPr>
            <a:xfrm>
              <a:off x="4632807" y="566116"/>
              <a:ext cx="2060864" cy="1688304"/>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4632807" y="566116"/>
              <a:ext cx="65573" cy="1688304"/>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4801891" y="607782"/>
              <a:ext cx="1779900" cy="40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Destete</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Precoz Premium</a:t>
              </a:r>
              <a:endParaRPr sz="1150">
                <a:solidFill>
                  <a:schemeClr val="dk1"/>
                </a:solidFill>
                <a:latin typeface="Calibri"/>
                <a:ea typeface="Calibri"/>
                <a:cs typeface="Calibri"/>
                <a:sym typeface="Calibri"/>
              </a:endParaRPr>
            </a:p>
          </p:txBody>
        </p:sp>
        <p:sp>
          <p:nvSpPr>
            <p:cNvPr id="141" name="Google Shape;141;p8"/>
            <p:cNvSpPr/>
            <p:nvPr/>
          </p:nvSpPr>
          <p:spPr>
            <a:xfrm>
              <a:off x="4801891" y="1173090"/>
              <a:ext cx="1779837" cy="29361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8"/>
                </a:buClr>
                <a:buSzPts val="2000"/>
                <a:buFont typeface="Calibri"/>
                <a:buNone/>
              </a:pPr>
              <a:r>
                <a:rPr b="1" lang="en-US" sz="2000">
                  <a:solidFill>
                    <a:srgbClr val="2563A8"/>
                  </a:solidFill>
                  <a:latin typeface="Calibri"/>
                  <a:ea typeface="Calibri"/>
                  <a:cs typeface="Calibri"/>
                  <a:sym typeface="Calibri"/>
                </a:rPr>
                <a:t>122 kg</a:t>
              </a:r>
              <a:endParaRPr sz="2000">
                <a:solidFill>
                  <a:schemeClr val="dk1"/>
                </a:solidFill>
                <a:latin typeface="Calibri"/>
                <a:ea typeface="Calibri"/>
                <a:cs typeface="Calibri"/>
                <a:sym typeface="Calibri"/>
              </a:endParaRPr>
            </a:p>
          </p:txBody>
        </p:sp>
        <p:sp>
          <p:nvSpPr>
            <p:cNvPr id="142" name="Google Shape;142;p8"/>
            <p:cNvSpPr/>
            <p:nvPr/>
          </p:nvSpPr>
          <p:spPr>
            <a:xfrm>
              <a:off x="4801891" y="1553581"/>
              <a:ext cx="1779837" cy="2348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$11.389/kg</a:t>
              </a:r>
              <a:endParaRPr sz="1150">
                <a:solidFill>
                  <a:schemeClr val="dk1"/>
                </a:solidFill>
                <a:latin typeface="Calibri"/>
                <a:ea typeface="Calibri"/>
                <a:cs typeface="Calibri"/>
                <a:sym typeface="Calibri"/>
              </a:endParaRPr>
            </a:p>
          </p:txBody>
        </p:sp>
        <p:sp>
          <p:nvSpPr>
            <p:cNvPr id="143" name="Google Shape;143;p8"/>
            <p:cNvSpPr/>
            <p:nvPr/>
          </p:nvSpPr>
          <p:spPr>
            <a:xfrm>
              <a:off x="4801891" y="1870657"/>
              <a:ext cx="1686161" cy="45719"/>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4801891" y="1925013"/>
              <a:ext cx="1779837" cy="2202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$3.157</a:t>
              </a:r>
              <a:endParaRPr sz="1000">
                <a:solidFill>
                  <a:schemeClr val="dk1"/>
                </a:solidFill>
                <a:latin typeface="Calibri"/>
                <a:ea typeface="Calibri"/>
                <a:cs typeface="Calibri"/>
                <a:sym typeface="Calibri"/>
              </a:endParaRPr>
            </a:p>
          </p:txBody>
        </p:sp>
      </p:grpSp>
      <p:grpSp>
        <p:nvGrpSpPr>
          <p:cNvPr id="145" name="Google Shape;145;p8"/>
          <p:cNvGrpSpPr/>
          <p:nvPr/>
        </p:nvGrpSpPr>
        <p:grpSpPr>
          <a:xfrm>
            <a:off x="4560785" y="2935056"/>
            <a:ext cx="2047796" cy="1723268"/>
            <a:chOff x="6906050" y="566116"/>
            <a:chExt cx="2047796" cy="1723268"/>
          </a:xfrm>
        </p:grpSpPr>
        <p:sp>
          <p:nvSpPr>
            <p:cNvPr id="146" name="Google Shape;146;p8"/>
            <p:cNvSpPr/>
            <p:nvPr/>
          </p:nvSpPr>
          <p:spPr>
            <a:xfrm>
              <a:off x="6906050" y="566116"/>
              <a:ext cx="2047796" cy="1723268"/>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6906050" y="566116"/>
              <a:ext cx="61941" cy="1723268"/>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7075135" y="629530"/>
              <a:ext cx="1681254" cy="41208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Destete</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Numeroso</a:t>
              </a:r>
              <a:endParaRPr sz="1150">
                <a:solidFill>
                  <a:schemeClr val="dk1"/>
                </a:solidFill>
                <a:latin typeface="Calibri"/>
                <a:ea typeface="Calibri"/>
                <a:cs typeface="Calibri"/>
                <a:sym typeface="Calibri"/>
              </a:endParaRPr>
            </a:p>
          </p:txBody>
        </p:sp>
        <p:sp>
          <p:nvSpPr>
            <p:cNvPr id="149" name="Google Shape;149;p8"/>
            <p:cNvSpPr/>
            <p:nvPr/>
          </p:nvSpPr>
          <p:spPr>
            <a:xfrm>
              <a:off x="7075135" y="1173089"/>
              <a:ext cx="1681254" cy="2996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2000"/>
                <a:buFont typeface="Calibri"/>
                <a:buNone/>
              </a:pPr>
              <a:r>
                <a:rPr b="1" lang="en-US" sz="2000">
                  <a:solidFill>
                    <a:srgbClr val="0F766E"/>
                  </a:solidFill>
                  <a:latin typeface="Calibri"/>
                  <a:ea typeface="Calibri"/>
                  <a:cs typeface="Calibri"/>
                  <a:sym typeface="Calibri"/>
                </a:rPr>
                <a:t>178 kg</a:t>
              </a:r>
              <a:endParaRPr sz="2000">
                <a:solidFill>
                  <a:schemeClr val="dk1"/>
                </a:solidFill>
                <a:latin typeface="Calibri"/>
                <a:ea typeface="Calibri"/>
                <a:cs typeface="Calibri"/>
                <a:sym typeface="Calibri"/>
              </a:endParaRPr>
            </a:p>
          </p:txBody>
        </p:sp>
        <p:sp>
          <p:nvSpPr>
            <p:cNvPr id="150" name="Google Shape;150;p8"/>
            <p:cNvSpPr/>
            <p:nvPr/>
          </p:nvSpPr>
          <p:spPr>
            <a:xfrm>
              <a:off x="7075135" y="1553581"/>
              <a:ext cx="1681254" cy="23975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$8.696/kg</a:t>
              </a:r>
              <a:endParaRPr sz="1150">
                <a:solidFill>
                  <a:schemeClr val="dk1"/>
                </a:solidFill>
                <a:latin typeface="Calibri"/>
                <a:ea typeface="Calibri"/>
                <a:cs typeface="Calibri"/>
                <a:sym typeface="Calibri"/>
              </a:endParaRPr>
            </a:p>
          </p:txBody>
        </p:sp>
        <p:sp>
          <p:nvSpPr>
            <p:cNvPr id="151" name="Google Shape;151;p8"/>
            <p:cNvSpPr/>
            <p:nvPr/>
          </p:nvSpPr>
          <p:spPr>
            <a:xfrm>
              <a:off x="7075134" y="1870657"/>
              <a:ext cx="1592767" cy="45719"/>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7075135" y="1925013"/>
              <a:ext cx="1681254" cy="2247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$761</a:t>
              </a:r>
              <a:endParaRPr sz="1000">
                <a:solidFill>
                  <a:schemeClr val="dk1"/>
                </a:solidFill>
                <a:latin typeface="Calibri"/>
                <a:ea typeface="Calibri"/>
                <a:cs typeface="Calibri"/>
                <a:sym typeface="Calibri"/>
              </a:endParaRPr>
            </a:p>
          </p:txBody>
        </p:sp>
      </p:grpSp>
      <p:grpSp>
        <p:nvGrpSpPr>
          <p:cNvPr id="153" name="Google Shape;153;p8"/>
          <p:cNvGrpSpPr/>
          <p:nvPr/>
        </p:nvGrpSpPr>
        <p:grpSpPr>
          <a:xfrm>
            <a:off x="6608571" y="2925386"/>
            <a:ext cx="2066700" cy="1742623"/>
            <a:chOff x="6858687" y="2825542"/>
            <a:chExt cx="2066700" cy="1742623"/>
          </a:xfrm>
        </p:grpSpPr>
        <p:sp>
          <p:nvSpPr>
            <p:cNvPr id="154" name="Google Shape;154;p8"/>
            <p:cNvSpPr/>
            <p:nvPr/>
          </p:nvSpPr>
          <p:spPr>
            <a:xfrm>
              <a:off x="6858687" y="2825542"/>
              <a:ext cx="2066700" cy="17232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6878111" y="2844965"/>
              <a:ext cx="65700" cy="1723200"/>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7056348" y="2917532"/>
              <a:ext cx="1784776" cy="41208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Mercado</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Frigorífico</a:t>
              </a:r>
              <a:endParaRPr sz="1150">
                <a:solidFill>
                  <a:schemeClr val="dk1"/>
                </a:solidFill>
                <a:latin typeface="Calibri"/>
                <a:ea typeface="Calibri"/>
                <a:cs typeface="Calibri"/>
                <a:sym typeface="Calibri"/>
              </a:endParaRPr>
            </a:p>
          </p:txBody>
        </p:sp>
        <p:sp>
          <p:nvSpPr>
            <p:cNvPr id="157" name="Google Shape;157;p8"/>
            <p:cNvSpPr/>
            <p:nvPr/>
          </p:nvSpPr>
          <p:spPr>
            <a:xfrm>
              <a:off x="7056348" y="3461091"/>
              <a:ext cx="1784776" cy="2996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2000"/>
                <a:buFont typeface="Calibri"/>
                <a:buNone/>
              </a:pPr>
              <a:r>
                <a:rPr b="1" lang="en-US" sz="2000">
                  <a:solidFill>
                    <a:srgbClr val="B45309"/>
                  </a:solidFill>
                  <a:latin typeface="Calibri"/>
                  <a:ea typeface="Calibri"/>
                  <a:cs typeface="Calibri"/>
                  <a:sym typeface="Calibri"/>
                </a:rPr>
                <a:t>370 kg</a:t>
              </a:r>
              <a:endParaRPr sz="2000">
                <a:solidFill>
                  <a:schemeClr val="dk1"/>
                </a:solidFill>
                <a:latin typeface="Calibri"/>
                <a:ea typeface="Calibri"/>
                <a:cs typeface="Calibri"/>
                <a:sym typeface="Calibri"/>
              </a:endParaRPr>
            </a:p>
          </p:txBody>
        </p:sp>
        <p:sp>
          <p:nvSpPr>
            <p:cNvPr id="158" name="Google Shape;158;p8"/>
            <p:cNvSpPr/>
            <p:nvPr/>
          </p:nvSpPr>
          <p:spPr>
            <a:xfrm>
              <a:off x="7056348" y="3841583"/>
              <a:ext cx="1784776" cy="23975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$7.443/kg</a:t>
              </a:r>
              <a:endParaRPr sz="1150">
                <a:solidFill>
                  <a:schemeClr val="dk1"/>
                </a:solidFill>
                <a:latin typeface="Calibri"/>
                <a:ea typeface="Calibri"/>
                <a:cs typeface="Calibri"/>
                <a:sym typeface="Calibri"/>
              </a:endParaRPr>
            </a:p>
          </p:txBody>
        </p:sp>
        <p:sp>
          <p:nvSpPr>
            <p:cNvPr id="159" name="Google Shape;159;p8"/>
            <p:cNvSpPr/>
            <p:nvPr/>
          </p:nvSpPr>
          <p:spPr>
            <a:xfrm>
              <a:off x="7056347" y="4158659"/>
              <a:ext cx="1690841" cy="45719"/>
            </a:xfrm>
            <a:prstGeom prst="rect">
              <a:avLst/>
            </a:prstGeom>
            <a:solidFill>
              <a:srgbClr val="B45309"/>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7056348" y="4213015"/>
              <a:ext cx="1784776" cy="2247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i="1" lang="en-US" sz="1000">
                  <a:solidFill>
                    <a:srgbClr val="475569"/>
                  </a:solidFill>
                  <a:latin typeface="Calibri"/>
                  <a:ea typeface="Calibri"/>
                  <a:cs typeface="Calibri"/>
                  <a:sym typeface="Calibri"/>
                </a:rPr>
                <a:t>Margen puja: $771</a:t>
              </a:r>
              <a:endParaRPr sz="1000">
                <a:solidFill>
                  <a:schemeClr val="dk1"/>
                </a:solidFill>
                <a:latin typeface="Calibri"/>
                <a:ea typeface="Calibri"/>
                <a:cs typeface="Calibri"/>
                <a:sym typeface="Calibri"/>
              </a:endParaRPr>
            </a:p>
          </p:txBody>
        </p:sp>
      </p:grpSp>
      <p:sp>
        <p:nvSpPr>
          <p:cNvPr id="161" name="Google Shape;161;p8"/>
          <p:cNvSpPr/>
          <p:nvPr/>
        </p:nvSpPr>
        <p:spPr>
          <a:xfrm>
            <a:off x="274320" y="4959508"/>
            <a:ext cx="85953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pic>
        <p:nvPicPr>
          <p:cNvPr id="162" name="Google Shape;162;p8"/>
          <p:cNvPicPr preferRelativeResize="0"/>
          <p:nvPr/>
        </p:nvPicPr>
        <p:blipFill rotWithShape="1">
          <a:blip r:embed="rId3">
            <a:alphaModFix/>
          </a:blip>
          <a:srcRect b="0" l="0" r="0" t="0"/>
          <a:stretch/>
        </p:blipFill>
        <p:spPr>
          <a:xfrm>
            <a:off x="12" y="2424903"/>
            <a:ext cx="4161810" cy="2556142"/>
          </a:xfrm>
          <a:prstGeom prst="rect">
            <a:avLst/>
          </a:prstGeom>
          <a:noFill/>
          <a:ln>
            <a:noFill/>
          </a:ln>
        </p:spPr>
      </p:pic>
      <p:pic>
        <p:nvPicPr>
          <p:cNvPr id="163" name="Google Shape;163;p8"/>
          <p:cNvPicPr preferRelativeResize="0"/>
          <p:nvPr/>
        </p:nvPicPr>
        <p:blipFill rotWithShape="1">
          <a:blip r:embed="rId4">
            <a:alphaModFix/>
          </a:blip>
          <a:srcRect b="0" l="0" r="0" t="0"/>
          <a:stretch/>
        </p:blipFill>
        <p:spPr>
          <a:xfrm>
            <a:off x="74537" y="595038"/>
            <a:ext cx="6251003" cy="18179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8" name="Shape 168"/>
        <p:cNvGrpSpPr/>
        <p:nvPr/>
      </p:nvGrpSpPr>
      <p:grpSpPr>
        <a:xfrm>
          <a:off x="0" y="0"/>
          <a:ext cx="0" cy="0"/>
          <a:chOff x="0" y="0"/>
          <a:chExt cx="0" cy="0"/>
        </a:xfrm>
      </p:grpSpPr>
      <p:sp>
        <p:nvSpPr>
          <p:cNvPr id="169" name="Google Shape;169;p9"/>
          <p:cNvSpPr/>
          <p:nvPr/>
        </p:nvSpPr>
        <p:spPr>
          <a:xfrm>
            <a:off x="0" y="0"/>
            <a:ext cx="100800"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411480" y="192173"/>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Resultados</a:t>
            </a:r>
            <a:endParaRPr sz="2800">
              <a:solidFill>
                <a:schemeClr val="dk1"/>
              </a:solidFill>
              <a:latin typeface="Calibri"/>
              <a:ea typeface="Calibri"/>
              <a:cs typeface="Calibri"/>
              <a:sym typeface="Calibri"/>
            </a:endParaRPr>
          </a:p>
        </p:txBody>
      </p:sp>
      <p:sp>
        <p:nvSpPr>
          <p:cNvPr id="171" name="Google Shape;171;p9"/>
          <p:cNvSpPr/>
          <p:nvPr/>
        </p:nvSpPr>
        <p:spPr>
          <a:xfrm>
            <a:off x="411475" y="826500"/>
            <a:ext cx="4088100" cy="4111200"/>
          </a:xfrm>
          <a:prstGeom prst="rect">
            <a:avLst/>
          </a:prstGeom>
          <a:solidFill>
            <a:srgbClr val="FFFFFF"/>
          </a:solidFill>
          <a:ln cap="flat" cmpd="sng" w="10450">
            <a:solidFill>
              <a:srgbClr val="D1D9F0"/>
            </a:solidFill>
            <a:prstDash val="solid"/>
            <a:round/>
            <a:headEnd len="sm" w="sm" type="none"/>
            <a:tailEnd len="sm" w="sm" type="none"/>
          </a:ln>
          <a:effectLst>
            <a:outerShdw blurRad="55751" rotWithShape="0" algn="bl" dir="8100000" dist="27876">
              <a:srgbClr val="000000">
                <a:alpha val="7843"/>
              </a:srgbClr>
            </a:outerShdw>
          </a:effectLst>
        </p:spPr>
        <p:txBody>
          <a:bodyPr anchorCtr="0" anchor="ctr" bIns="100325" lIns="100325" spcFirstLastPara="1" rIns="100325" wrap="square" tIns="100325">
            <a:noAutofit/>
          </a:bodyPr>
          <a:lstStyle/>
          <a:p>
            <a:pPr indent="0" lvl="0" marL="0" rtl="0" algn="l">
              <a:spcBef>
                <a:spcPts val="0"/>
              </a:spcBef>
              <a:spcAft>
                <a:spcPts val="0"/>
              </a:spcAft>
              <a:buNone/>
            </a:pPr>
            <a:r>
              <a:t/>
            </a:r>
            <a:endParaRPr/>
          </a:p>
        </p:txBody>
      </p:sp>
      <p:sp>
        <p:nvSpPr>
          <p:cNvPr id="172" name="Google Shape;172;p9"/>
          <p:cNvSpPr/>
          <p:nvPr/>
        </p:nvSpPr>
        <p:spPr>
          <a:xfrm>
            <a:off x="292752" y="848800"/>
            <a:ext cx="100800" cy="4029300"/>
          </a:xfrm>
          <a:prstGeom prst="rect">
            <a:avLst/>
          </a:prstGeom>
          <a:solidFill>
            <a:srgbClr val="3B7DD8"/>
          </a:solidFill>
          <a:ln cap="flat" cmpd="sng" w="13950">
            <a:solidFill>
              <a:srgbClr val="3B7DD8"/>
            </a:solidFill>
            <a:prstDash val="solid"/>
            <a:round/>
            <a:headEnd len="sm" w="sm" type="none"/>
            <a:tailEnd len="sm" w="sm" type="none"/>
          </a:ln>
        </p:spPr>
        <p:txBody>
          <a:bodyPr anchorCtr="0" anchor="ctr" bIns="100325" lIns="100325" spcFirstLastPara="1" rIns="100325" wrap="square" tIns="100325">
            <a:noAutofit/>
          </a:bodyPr>
          <a:lstStyle/>
          <a:p>
            <a:pPr indent="0" lvl="0" marL="0" rtl="0" algn="l">
              <a:spcBef>
                <a:spcPts val="0"/>
              </a:spcBef>
              <a:spcAft>
                <a:spcPts val="0"/>
              </a:spcAft>
              <a:buNone/>
            </a:pPr>
            <a:r>
              <a:t/>
            </a:r>
            <a:endParaRPr/>
          </a:p>
        </p:txBody>
      </p:sp>
      <p:sp>
        <p:nvSpPr>
          <p:cNvPr id="173" name="Google Shape;173;p9"/>
          <p:cNvSpPr/>
          <p:nvPr/>
        </p:nvSpPr>
        <p:spPr>
          <a:xfrm>
            <a:off x="458891" y="826507"/>
            <a:ext cx="3347400" cy="33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46"/>
              <a:buFont typeface="Calibri"/>
              <a:buNone/>
            </a:pPr>
            <a:r>
              <a:rPr b="1" lang="en-US" sz="2195">
                <a:solidFill>
                  <a:srgbClr val="1E2761"/>
                </a:solidFill>
                <a:latin typeface="Calibri"/>
                <a:ea typeface="Calibri"/>
                <a:cs typeface="Calibri"/>
                <a:sym typeface="Calibri"/>
              </a:rPr>
              <a:t>Regresión Lineal</a:t>
            </a:r>
            <a:endParaRPr sz="2195">
              <a:solidFill>
                <a:schemeClr val="dk1"/>
              </a:solidFill>
              <a:latin typeface="Calibri"/>
              <a:ea typeface="Calibri"/>
              <a:cs typeface="Calibri"/>
              <a:sym typeface="Calibri"/>
            </a:endParaRPr>
          </a:p>
        </p:txBody>
      </p:sp>
      <p:sp>
        <p:nvSpPr>
          <p:cNvPr id="174" name="Google Shape;174;p9"/>
          <p:cNvSpPr/>
          <p:nvPr/>
        </p:nvSpPr>
        <p:spPr>
          <a:xfrm>
            <a:off x="458900" y="1279213"/>
            <a:ext cx="3957000" cy="355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62"/>
              <a:buFont typeface="Calibri"/>
              <a:buNone/>
            </a:pPr>
            <a:r>
              <a:rPr lang="en-US" sz="2000">
                <a:solidFill>
                  <a:srgbClr val="1E2761"/>
                </a:solidFill>
                <a:latin typeface="Calibri"/>
                <a:ea typeface="Calibri"/>
                <a:cs typeface="Calibri"/>
                <a:sym typeface="Calibri"/>
              </a:rPr>
              <a:t>Con hasta un 30% de precisión al predecir precios en la regresión lineal múltiple. Valor conservador y aterrizado: el 70% restante depende de variables no digitalizadas actualmente (Raza, Edad, Biotipo, preñeces).</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62"/>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262"/>
              <a:buFont typeface="Calibri"/>
              <a:buNone/>
            </a:pPr>
            <a:r>
              <a:rPr lang="en-US" sz="2000">
                <a:solidFill>
                  <a:srgbClr val="1E2761"/>
                </a:solidFill>
                <a:latin typeface="Calibri"/>
                <a:ea typeface="Calibri"/>
                <a:cs typeface="Calibri"/>
                <a:sym typeface="Calibri"/>
              </a:rPr>
              <a:t>Conclusión: modelo no viable por sí solo en implementación real, pero establece una base técnica objetiva para fijar rangos de referencia.</a:t>
            </a:r>
            <a:endParaRPr sz="2000">
              <a:solidFill>
                <a:schemeClr val="dk1"/>
              </a:solidFill>
              <a:latin typeface="Calibri"/>
              <a:ea typeface="Calibri"/>
              <a:cs typeface="Calibri"/>
              <a:sym typeface="Calibri"/>
            </a:endParaRPr>
          </a:p>
        </p:txBody>
      </p:sp>
      <p:sp>
        <p:nvSpPr>
          <p:cNvPr id="175" name="Google Shape;175;p9"/>
          <p:cNvSpPr/>
          <p:nvPr/>
        </p:nvSpPr>
        <p:spPr>
          <a:xfrm>
            <a:off x="4709250" y="826500"/>
            <a:ext cx="4088100" cy="4111200"/>
          </a:xfrm>
          <a:prstGeom prst="rect">
            <a:avLst/>
          </a:prstGeom>
          <a:solidFill>
            <a:srgbClr val="FFFFFF"/>
          </a:solidFill>
          <a:ln cap="flat" cmpd="sng" w="10450">
            <a:solidFill>
              <a:srgbClr val="D1D9F0"/>
            </a:solidFill>
            <a:prstDash val="solid"/>
            <a:round/>
            <a:headEnd len="sm" w="sm" type="none"/>
            <a:tailEnd len="sm" w="sm" type="none"/>
          </a:ln>
          <a:effectLst>
            <a:outerShdw blurRad="55753" rotWithShape="0" algn="bl" dir="8100000" dist="27877">
              <a:srgbClr val="000000">
                <a:alpha val="7843"/>
              </a:srgbClr>
            </a:outerShdw>
          </a:effectLst>
        </p:spPr>
        <p:txBody>
          <a:bodyPr anchorCtr="0" anchor="t" bIns="50150" lIns="100350" spcFirstLastPara="1" rIns="100350" wrap="square" tIns="50150">
            <a:noAutofit/>
          </a:bodyPr>
          <a:lstStyle/>
          <a:p>
            <a:pPr indent="0" lvl="0" marL="0" marR="0" rtl="0" algn="l">
              <a:spcBef>
                <a:spcPts val="0"/>
              </a:spcBef>
              <a:spcAft>
                <a:spcPts val="0"/>
              </a:spcAft>
              <a:buNone/>
            </a:pPr>
            <a:r>
              <a:t/>
            </a:r>
            <a:endParaRPr sz="1976">
              <a:solidFill>
                <a:schemeClr val="dk1"/>
              </a:solidFill>
              <a:latin typeface="Calibri"/>
              <a:ea typeface="Calibri"/>
              <a:cs typeface="Calibri"/>
              <a:sym typeface="Calibri"/>
            </a:endParaRPr>
          </a:p>
        </p:txBody>
      </p:sp>
      <p:sp>
        <p:nvSpPr>
          <p:cNvPr id="176" name="Google Shape;176;p9"/>
          <p:cNvSpPr/>
          <p:nvPr/>
        </p:nvSpPr>
        <p:spPr>
          <a:xfrm>
            <a:off x="4666952" y="876277"/>
            <a:ext cx="100800" cy="3954900"/>
          </a:xfrm>
          <a:prstGeom prst="rect">
            <a:avLst/>
          </a:prstGeom>
          <a:solidFill>
            <a:srgbClr val="F59E0B"/>
          </a:solidFill>
          <a:ln cap="flat" cmpd="sng" w="13950">
            <a:solidFill>
              <a:srgbClr val="F59E0B"/>
            </a:solidFill>
            <a:prstDash val="solid"/>
            <a:round/>
            <a:headEnd len="sm" w="sm" type="none"/>
            <a:tailEnd len="sm" w="sm" type="none"/>
          </a:ln>
        </p:spPr>
        <p:txBody>
          <a:bodyPr anchorCtr="0" anchor="ctr" bIns="100350" lIns="100350" spcFirstLastPara="1" rIns="100350" wrap="square" tIns="100350">
            <a:noAutofit/>
          </a:bodyPr>
          <a:lstStyle/>
          <a:p>
            <a:pPr indent="0" lvl="0" marL="0" rtl="0" algn="l">
              <a:spcBef>
                <a:spcPts val="0"/>
              </a:spcBef>
              <a:spcAft>
                <a:spcPts val="0"/>
              </a:spcAft>
              <a:buNone/>
            </a:pPr>
            <a:r>
              <a:t/>
            </a:r>
            <a:endParaRPr/>
          </a:p>
        </p:txBody>
      </p:sp>
      <p:sp>
        <p:nvSpPr>
          <p:cNvPr id="177" name="Google Shape;177;p9"/>
          <p:cNvSpPr/>
          <p:nvPr/>
        </p:nvSpPr>
        <p:spPr>
          <a:xfrm>
            <a:off x="4854871" y="829090"/>
            <a:ext cx="3431100" cy="33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46"/>
              <a:buFont typeface="Calibri"/>
              <a:buNone/>
            </a:pPr>
            <a:r>
              <a:rPr b="1" lang="en-US" sz="2000">
                <a:solidFill>
                  <a:srgbClr val="1E2761"/>
                </a:solidFill>
                <a:latin typeface="Calibri"/>
                <a:ea typeface="Calibri"/>
                <a:cs typeface="Calibri"/>
                <a:sym typeface="Calibri"/>
              </a:rPr>
              <a:t>Árbol de Decisión y Clustering</a:t>
            </a:r>
            <a:endParaRPr sz="2000">
              <a:solidFill>
                <a:schemeClr val="dk1"/>
              </a:solidFill>
              <a:latin typeface="Calibri"/>
              <a:ea typeface="Calibri"/>
              <a:cs typeface="Calibri"/>
              <a:sym typeface="Calibri"/>
            </a:endParaRPr>
          </a:p>
        </p:txBody>
      </p:sp>
      <p:sp>
        <p:nvSpPr>
          <p:cNvPr id="178" name="Google Shape;178;p9"/>
          <p:cNvSpPr/>
          <p:nvPr/>
        </p:nvSpPr>
        <p:spPr>
          <a:xfrm>
            <a:off x="4876625" y="1279175"/>
            <a:ext cx="3792300" cy="355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62"/>
              <a:buFont typeface="Calibri"/>
              <a:buNone/>
            </a:pPr>
            <a:r>
              <a:rPr b="1" lang="en-US" sz="2000">
                <a:solidFill>
                  <a:srgbClr val="1E2761"/>
                </a:solidFill>
                <a:latin typeface="Calibri"/>
                <a:ea typeface="Calibri"/>
                <a:cs typeface="Calibri"/>
                <a:sym typeface="Calibri"/>
              </a:rPr>
              <a:t>Árbol de Decisión: </a:t>
            </a:r>
            <a:r>
              <a:rPr lang="en-US" sz="2000">
                <a:solidFill>
                  <a:srgbClr val="1E2761"/>
                </a:solidFill>
                <a:latin typeface="Calibri"/>
                <a:ea typeface="Calibri"/>
                <a:cs typeface="Calibri"/>
                <a:sym typeface="Calibri"/>
              </a:rPr>
              <a:t>Transparenta el negocio y genera mayor confianza al establecer bases del ganado con datos, no con percepciones subjetivas.</a:t>
            </a:r>
            <a:br>
              <a:rPr lang="en-US" sz="2000">
                <a:solidFill>
                  <a:srgbClr val="1E2761"/>
                </a:solidFill>
                <a:latin typeface="Calibri"/>
                <a:ea typeface="Calibri"/>
                <a:cs typeface="Calibri"/>
                <a:sym typeface="Calibri"/>
              </a:rPr>
            </a:br>
            <a:br>
              <a:rPr lang="en-US" sz="2000">
                <a:solidFill>
                  <a:srgbClr val="1E2761"/>
                </a:solidFill>
                <a:latin typeface="Calibri"/>
                <a:ea typeface="Calibri"/>
                <a:cs typeface="Calibri"/>
                <a:sym typeface="Calibri"/>
              </a:rPr>
            </a:br>
            <a:r>
              <a:rPr b="1" lang="en-US" sz="2000">
                <a:solidFill>
                  <a:srgbClr val="1E2761"/>
                </a:solidFill>
                <a:latin typeface="Calibri"/>
                <a:ea typeface="Calibri"/>
                <a:cs typeface="Calibri"/>
                <a:sym typeface="Calibri"/>
              </a:rPr>
              <a:t>K-Means: </a:t>
            </a:r>
            <a:r>
              <a:rPr lang="en-US" sz="2000">
                <a:solidFill>
                  <a:srgbClr val="1E2761"/>
                </a:solidFill>
                <a:latin typeface="Calibri"/>
                <a:ea typeface="Calibri"/>
                <a:cs typeface="Calibri"/>
                <a:sym typeface="Calibri"/>
              </a:rPr>
              <a:t>Segmenta clientes en 3 grupos principales. Permite organizar las listas de difusión de WhatsApp por perfil comercial, no por orden de llegada.</a:t>
            </a:r>
            <a:endParaRPr sz="2000">
              <a:solidFill>
                <a:schemeClr val="dk1"/>
              </a:solidFill>
              <a:latin typeface="Calibri"/>
              <a:ea typeface="Calibri"/>
              <a:cs typeface="Calibri"/>
              <a:sym typeface="Calibri"/>
            </a:endParaRPr>
          </a:p>
        </p:txBody>
      </p:sp>
      <p:sp>
        <p:nvSpPr>
          <p:cNvPr id="179" name="Google Shape;179;p9"/>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F"/>
        </a:solidFill>
      </p:bgPr>
    </p:bg>
    <p:spTree>
      <p:nvGrpSpPr>
        <p:cNvPr id="184" name="Shape 184"/>
        <p:cNvGrpSpPr/>
        <p:nvPr/>
      </p:nvGrpSpPr>
      <p:grpSpPr>
        <a:xfrm>
          <a:off x="0" y="0"/>
          <a:ext cx="0" cy="0"/>
          <a:chOff x="0" y="0"/>
          <a:chExt cx="0" cy="0"/>
        </a:xfrm>
      </p:grpSpPr>
      <p:sp>
        <p:nvSpPr>
          <p:cNvPr id="185" name="Google Shape;185;p10"/>
          <p:cNvSpPr/>
          <p:nvPr/>
        </p:nvSpPr>
        <p:spPr>
          <a:xfrm>
            <a:off x="0" y="0"/>
            <a:ext cx="9144000" cy="7772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Recomendaciones</a:t>
            </a:r>
            <a:endParaRPr sz="2400">
              <a:solidFill>
                <a:schemeClr val="dk1"/>
              </a:solidFill>
              <a:latin typeface="Calibri"/>
              <a:ea typeface="Calibri"/>
              <a:cs typeface="Calibri"/>
              <a:sym typeface="Calibri"/>
            </a:endParaRPr>
          </a:p>
        </p:txBody>
      </p:sp>
      <p:sp>
        <p:nvSpPr>
          <p:cNvPr id="187" name="Google Shape;187;p10"/>
          <p:cNvSpPr/>
          <p:nvPr/>
        </p:nvSpPr>
        <p:spPr>
          <a:xfrm>
            <a:off x="457200" y="961275"/>
            <a:ext cx="8412600" cy="15489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457200" y="961275"/>
            <a:ext cx="65400" cy="15489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586734" y="1308200"/>
            <a:ext cx="772800" cy="768300"/>
          </a:xfrm>
          <a:prstGeom prst="ellipse">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74161" y="1309564"/>
            <a:ext cx="579600" cy="76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900">
                <a:solidFill>
                  <a:srgbClr val="FFFFFF"/>
                </a:solidFill>
                <a:latin typeface="Calibri"/>
                <a:ea typeface="Calibri"/>
                <a:cs typeface="Calibri"/>
                <a:sym typeface="Calibri"/>
              </a:rPr>
              <a:t>1</a:t>
            </a:r>
            <a:endParaRPr sz="1900">
              <a:solidFill>
                <a:schemeClr val="dk1"/>
              </a:solidFill>
              <a:latin typeface="Calibri"/>
              <a:ea typeface="Calibri"/>
              <a:cs typeface="Calibri"/>
              <a:sym typeface="Calibri"/>
            </a:endParaRPr>
          </a:p>
        </p:txBody>
      </p:sp>
      <p:sp>
        <p:nvSpPr>
          <p:cNvPr id="191" name="Google Shape;191;p10"/>
          <p:cNvSpPr/>
          <p:nvPr/>
        </p:nvSpPr>
        <p:spPr>
          <a:xfrm>
            <a:off x="1530765" y="1091775"/>
            <a:ext cx="7197600" cy="125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002060"/>
                </a:solidFill>
                <a:latin typeface="Calibri"/>
                <a:ea typeface="Calibri"/>
                <a:cs typeface="Calibri"/>
                <a:sym typeface="Calibri"/>
              </a:rPr>
              <a:t>Como lo vimos en los resultados, el arbol de decisión para el tema operativo (tiempos de venta) y el Clustering para el tema de Marketing son dos modelos que se recomiendan implementar para su operación y ser más competitivos, más inteligentes.</a:t>
            </a:r>
            <a:endParaRPr sz="2000"/>
          </a:p>
        </p:txBody>
      </p:sp>
      <p:sp>
        <p:nvSpPr>
          <p:cNvPr id="192" name="Google Shape;192;p10"/>
          <p:cNvSpPr/>
          <p:nvPr/>
        </p:nvSpPr>
        <p:spPr>
          <a:xfrm>
            <a:off x="457200" y="2784350"/>
            <a:ext cx="8412600" cy="18984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455744" y="2802654"/>
            <a:ext cx="65400" cy="18492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592000" y="3243825"/>
            <a:ext cx="772800" cy="768300"/>
          </a:xfrm>
          <a:prstGeom prst="ellipse">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694893" y="3344480"/>
            <a:ext cx="5670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900">
                <a:solidFill>
                  <a:srgbClr val="FFFFFF"/>
                </a:solidFill>
                <a:latin typeface="Calibri"/>
                <a:ea typeface="Calibri"/>
                <a:cs typeface="Calibri"/>
                <a:sym typeface="Calibri"/>
              </a:rPr>
              <a:t>2</a:t>
            </a:r>
            <a:endParaRPr sz="1900">
              <a:solidFill>
                <a:schemeClr val="dk1"/>
              </a:solidFill>
              <a:latin typeface="Calibri"/>
              <a:ea typeface="Calibri"/>
              <a:cs typeface="Calibri"/>
              <a:sym typeface="Calibri"/>
            </a:endParaRPr>
          </a:p>
        </p:txBody>
      </p:sp>
      <p:sp>
        <p:nvSpPr>
          <p:cNvPr id="196" name="Google Shape;196;p10"/>
          <p:cNvSpPr/>
          <p:nvPr/>
        </p:nvSpPr>
        <p:spPr>
          <a:xfrm>
            <a:off x="1517969" y="2897500"/>
            <a:ext cx="7041000" cy="163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2000">
                <a:solidFill>
                  <a:srgbClr val="002060"/>
                </a:solidFill>
                <a:latin typeface="Calibri"/>
                <a:ea typeface="Calibri"/>
                <a:cs typeface="Calibri"/>
                <a:sym typeface="Calibri"/>
              </a:rPr>
              <a:t>Se hace una recomendación y es la captación de mayor cantidad de variables para pensar en una posible predicción de precios más acertada, lo cual tendría muchas ventajas: Organización para temporadas altas, posibles ofertas de descuentos para temporadas bajas, reprogramación de eventos especiales en base a precios de ciertas categorías durante el año.</a:t>
            </a:r>
            <a:endParaRPr sz="2000"/>
          </a:p>
        </p:txBody>
      </p:sp>
      <p:sp>
        <p:nvSpPr>
          <p:cNvPr id="197" name="Google Shape;197;p10"/>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02" name="Shape 202"/>
        <p:cNvGrpSpPr/>
        <p:nvPr/>
      </p:nvGrpSpPr>
      <p:grpSpPr>
        <a:xfrm>
          <a:off x="0" y="0"/>
          <a:ext cx="0" cy="0"/>
          <a:chOff x="0" y="0"/>
          <a:chExt cx="0" cy="0"/>
        </a:xfrm>
      </p:grpSpPr>
      <p:sp>
        <p:nvSpPr>
          <p:cNvPr id="203" name="Google Shape;203;p11"/>
          <p:cNvSpPr/>
          <p:nvPr/>
        </p:nvSpPr>
        <p:spPr>
          <a:xfrm>
            <a:off x="0" y="0"/>
            <a:ext cx="164592" cy="5143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411480" y="18288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Aprendizajes</a:t>
            </a:r>
            <a:endParaRPr sz="2800">
              <a:solidFill>
                <a:schemeClr val="dk1"/>
              </a:solidFill>
              <a:latin typeface="Calibri"/>
              <a:ea typeface="Calibri"/>
              <a:cs typeface="Calibri"/>
              <a:sym typeface="Calibri"/>
            </a:endParaRPr>
          </a:p>
        </p:txBody>
      </p:sp>
      <p:sp>
        <p:nvSpPr>
          <p:cNvPr id="205" name="Google Shape;205;p11"/>
          <p:cNvSpPr/>
          <p:nvPr/>
        </p:nvSpPr>
        <p:spPr>
          <a:xfrm>
            <a:off x="297681" y="946838"/>
            <a:ext cx="4395600" cy="37335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274325" y="955800"/>
            <a:ext cx="70200" cy="3693300"/>
          </a:xfrm>
          <a:prstGeom prst="rect">
            <a:avLst/>
          </a:prstGeom>
          <a:solidFill>
            <a:srgbClr val="2563A8"/>
          </a:solidFill>
          <a:ln cap="flat" cmpd="sng" w="12700">
            <a:solidFill>
              <a:srgbClr val="2563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460851" y="1124400"/>
            <a:ext cx="4043100" cy="35529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lang="en-US" sz="2000">
                <a:solidFill>
                  <a:srgbClr val="002060"/>
                </a:solidFill>
                <a:latin typeface="Calibri"/>
                <a:ea typeface="Calibri"/>
                <a:cs typeface="Calibri"/>
                <a:sym typeface="Calibri"/>
              </a:rPr>
              <a:t>Los datos tienen un valor inmensurable para una empresa, es muy importante la validación desde la recolección de los datos para su correcto procesamiento e interpretación, por otro lado, a veces vemos que en un principio creemos que no nos dicen mucho pero que realmente si los sabemos interpretar, podemos sacar mucho provecho de ellos para entender topicos del negocio que en un principio no vemos.</a:t>
            </a:r>
            <a:endParaRPr sz="2000"/>
          </a:p>
          <a:p>
            <a:pPr indent="0" lvl="0" marL="0" marR="0" rtl="0" algn="l">
              <a:spcBef>
                <a:spcPts val="0"/>
              </a:spcBef>
              <a:spcAft>
                <a:spcPts val="0"/>
              </a:spcAft>
              <a:buNone/>
            </a:pPr>
            <a:r>
              <a:t/>
            </a:r>
            <a:endParaRPr sz="1150">
              <a:solidFill>
                <a:schemeClr val="dk1"/>
              </a:solidFill>
              <a:latin typeface="Calibri"/>
              <a:ea typeface="Calibri"/>
              <a:cs typeface="Calibri"/>
              <a:sym typeface="Calibri"/>
            </a:endParaRPr>
          </a:p>
        </p:txBody>
      </p:sp>
      <p:sp>
        <p:nvSpPr>
          <p:cNvPr id="208" name="Google Shape;208;p11"/>
          <p:cNvSpPr/>
          <p:nvPr/>
        </p:nvSpPr>
        <p:spPr>
          <a:xfrm>
            <a:off x="4850025" y="946899"/>
            <a:ext cx="4080000" cy="3733500"/>
          </a:xfrm>
          <a:prstGeom prst="rect">
            <a:avLst/>
          </a:prstGeom>
          <a:solidFill>
            <a:srgbClr val="FFFFFF"/>
          </a:solidFill>
          <a:ln cap="flat" cmpd="sng" w="9525">
            <a:solidFill>
              <a:srgbClr val="D1D9F0"/>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4845800" y="952950"/>
            <a:ext cx="70200" cy="3693300"/>
          </a:xfrm>
          <a:prstGeom prst="rect">
            <a:avLst/>
          </a:prstGeom>
          <a:solidFill>
            <a:srgbClr val="0F766E"/>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5037425" y="1278650"/>
            <a:ext cx="3794700" cy="22926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None/>
            </a:pPr>
            <a:r>
              <a:rPr lang="en-US" sz="2000">
                <a:solidFill>
                  <a:srgbClr val="002060"/>
                </a:solidFill>
                <a:latin typeface="Calibri"/>
                <a:ea typeface="Calibri"/>
                <a:cs typeface="Calibri"/>
                <a:sym typeface="Calibri"/>
              </a:rPr>
              <a:t>En este proyecto la IA fué nuestra copiloto, no solo para el despliegue de código, sino también para buscar recomendaciones de combinación de variables, interpretacion de graficos y orientación del enfoque del proyecto.</a:t>
            </a:r>
            <a:endParaRPr sz="2000"/>
          </a:p>
          <a:p>
            <a:pPr indent="-269875" lvl="0" marL="342900" marR="0" rtl="0" algn="l">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211" name="Google Shape;211;p11"/>
          <p:cNvSpPr/>
          <p:nvPr/>
        </p:nvSpPr>
        <p:spPr>
          <a:xfrm>
            <a:off x="274320" y="4937760"/>
            <a:ext cx="859536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700"/>
              <a:buFont typeface="Calibri"/>
              <a:buNone/>
            </a:pPr>
            <a:r>
              <a:rPr lang="en-US" sz="700">
                <a:solidFill>
                  <a:srgbClr val="94A3B8"/>
                </a:solidFill>
                <a:latin typeface="Calibri"/>
                <a:ea typeface="Calibri"/>
                <a:cs typeface="Calibri"/>
                <a:sym typeface="Calibri"/>
              </a:rPr>
              <a:t>Analítica Predictiva 2026  ·  INTEP Roldanillo, Valle del Cauca  ·  Suganorte – Zarzal</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C4A"/>
        </a:solidFill>
      </p:bgPr>
    </p:bg>
    <p:spTree>
      <p:nvGrpSpPr>
        <p:cNvPr id="216" name="Shape 216"/>
        <p:cNvGrpSpPr/>
        <p:nvPr/>
      </p:nvGrpSpPr>
      <p:grpSpPr>
        <a:xfrm>
          <a:off x="0" y="0"/>
          <a:ext cx="0" cy="0"/>
          <a:chOff x="0" y="0"/>
          <a:chExt cx="0" cy="0"/>
        </a:xfrm>
      </p:grpSpPr>
      <p:sp>
        <p:nvSpPr>
          <p:cNvPr id="217" name="Google Shape;217;p12"/>
          <p:cNvSpPr/>
          <p:nvPr/>
        </p:nvSpPr>
        <p:spPr>
          <a:xfrm>
            <a:off x="0" y="0"/>
            <a:ext cx="914400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p:nvPr/>
        </p:nvSpPr>
        <p:spPr>
          <a:xfrm>
            <a:off x="0" y="5029200"/>
            <a:ext cx="9144000" cy="114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1371600" y="1463040"/>
            <a:ext cx="640080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Calibri"/>
              <a:buNone/>
            </a:pPr>
            <a:r>
              <a:rPr b="1" lang="en-US" sz="3400">
                <a:solidFill>
                  <a:srgbClr val="FFFFFF"/>
                </a:solidFill>
                <a:latin typeface="Calibri"/>
                <a:ea typeface="Calibri"/>
                <a:cs typeface="Calibri"/>
                <a:sym typeface="Calibri"/>
              </a:rPr>
              <a:t>Gracias por su atención</a:t>
            </a:r>
            <a:endParaRPr sz="3400">
              <a:solidFill>
                <a:schemeClr val="dk1"/>
              </a:solidFill>
              <a:latin typeface="Calibri"/>
              <a:ea typeface="Calibri"/>
              <a:cs typeface="Calibri"/>
              <a:sym typeface="Calibri"/>
            </a:endParaRPr>
          </a:p>
        </p:txBody>
      </p:sp>
      <p:sp>
        <p:nvSpPr>
          <p:cNvPr id="220" name="Google Shape;220;p12"/>
          <p:cNvSpPr/>
          <p:nvPr/>
        </p:nvSpPr>
        <p:spPr>
          <a:xfrm>
            <a:off x="1371600" y="2286000"/>
            <a:ext cx="6400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1800"/>
              <a:buFont typeface="Calibri"/>
              <a:buNone/>
            </a:pPr>
            <a:r>
              <a:rPr i="1" lang="en-US" sz="1900">
                <a:solidFill>
                  <a:srgbClr val="F59E0B"/>
                </a:solidFill>
                <a:latin typeface="Calibri"/>
                <a:ea typeface="Calibri"/>
                <a:cs typeface="Calibri"/>
                <a:sym typeface="Calibri"/>
              </a:rPr>
              <a:t>Preguntas bienvenidas</a:t>
            </a:r>
            <a:endParaRPr sz="1900">
              <a:solidFill>
                <a:schemeClr val="dk1"/>
              </a:solidFill>
              <a:latin typeface="Calibri"/>
              <a:ea typeface="Calibri"/>
              <a:cs typeface="Calibri"/>
              <a:sym typeface="Calibri"/>
            </a:endParaRPr>
          </a:p>
        </p:txBody>
      </p:sp>
      <p:sp>
        <p:nvSpPr>
          <p:cNvPr id="221" name="Google Shape;221;p12"/>
          <p:cNvSpPr/>
          <p:nvPr/>
        </p:nvSpPr>
        <p:spPr>
          <a:xfrm>
            <a:off x="3200400" y="2880360"/>
            <a:ext cx="2743200" cy="54864"/>
          </a:xfrm>
          <a:prstGeom prst="rect">
            <a:avLst/>
          </a:prstGeom>
          <a:solidFill>
            <a:srgbClr val="3B7DD8"/>
          </a:solidFill>
          <a:ln cap="flat" cmpd="sng" w="12700">
            <a:solidFill>
              <a:srgbClr val="3B7D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914400" y="306324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100"/>
              <a:buFont typeface="Calibri"/>
              <a:buNone/>
            </a:pPr>
            <a:r>
              <a:rPr i="1" lang="en-US" sz="1100">
                <a:solidFill>
                  <a:srgbClr val="94A3B8"/>
                </a:solidFill>
                <a:latin typeface="Calibri"/>
                <a:ea typeface="Calibri"/>
                <a:cs typeface="Calibri"/>
                <a:sym typeface="Calibri"/>
              </a:rPr>
              <a:t>Analítica Predictiva 2026  ·  INTEP Roldanillo  ·  Suganorte – Zarzal, Valle del Cauca</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2026-04-09T03:21:32Z</dcterms:created>
  <dc:creator>PptxGenJS</dc:creator>
</cp:coreProperties>
</file>